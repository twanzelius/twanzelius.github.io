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5" r:id="rId2"/>
    <p:sldId id="269" r:id="rId3"/>
    <p:sldId id="270" r:id="rId4"/>
    <p:sldId id="271" r:id="rId5"/>
    <p:sldId id="273" r:id="rId6"/>
    <p:sldId id="267" r:id="rId7"/>
    <p:sldId id="268" r:id="rId8"/>
    <p:sldId id="281" r:id="rId9"/>
    <p:sldId id="282" r:id="rId10"/>
    <p:sldId id="274" r:id="rId11"/>
    <p:sldId id="284" r:id="rId12"/>
    <p:sldId id="285" r:id="rId13"/>
    <p:sldId id="283" r:id="rId14"/>
    <p:sldId id="280" r:id="rId15"/>
    <p:sldId id="279" r:id="rId16"/>
    <p:sldId id="276" r:id="rId17"/>
    <p:sldId id="306" r:id="rId18"/>
    <p:sldId id="277" r:id="rId19"/>
    <p:sldId id="286" r:id="rId20"/>
    <p:sldId id="278" r:id="rId21"/>
    <p:sldId id="302" r:id="rId22"/>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899" autoAdjust="0"/>
  </p:normalViewPr>
  <p:slideViewPr>
    <p:cSldViewPr snapToGrid="0">
      <p:cViewPr varScale="1">
        <p:scale>
          <a:sx n="73" d="100"/>
          <a:sy n="73" d="100"/>
        </p:scale>
        <p:origin x="10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ine Paulissen" userId="d4ad135d-2514-410f-98a0-1ed2d34fbfbf" providerId="ADAL" clId="{C2AD953A-001F-4369-9D6D-C6ED6005E4A3}"/>
    <pc:docChg chg="delSld modSld">
      <pc:chgData name="Toine Paulissen" userId="d4ad135d-2514-410f-98a0-1ed2d34fbfbf" providerId="ADAL" clId="{C2AD953A-001F-4369-9D6D-C6ED6005E4A3}" dt="2025-09-22T12:55:54.418" v="11" actId="47"/>
      <pc:docMkLst>
        <pc:docMk/>
      </pc:docMkLst>
      <pc:sldChg chg="modNotesTx">
        <pc:chgData name="Toine Paulissen" userId="d4ad135d-2514-410f-98a0-1ed2d34fbfbf" providerId="ADAL" clId="{C2AD953A-001F-4369-9D6D-C6ED6005E4A3}" dt="2025-09-22T12:54:59.763" v="0" actId="20577"/>
        <pc:sldMkLst>
          <pc:docMk/>
          <pc:sldMk cId="2398888541" sldId="269"/>
        </pc:sldMkLst>
      </pc:sldChg>
      <pc:sldChg chg="modNotesTx">
        <pc:chgData name="Toine Paulissen" userId="d4ad135d-2514-410f-98a0-1ed2d34fbfbf" providerId="ADAL" clId="{C2AD953A-001F-4369-9D6D-C6ED6005E4A3}" dt="2025-09-22T12:55:05.215" v="1" actId="20577"/>
        <pc:sldMkLst>
          <pc:docMk/>
          <pc:sldMk cId="2310353710" sldId="270"/>
        </pc:sldMkLst>
      </pc:sldChg>
      <pc:sldChg chg="modNotesTx">
        <pc:chgData name="Toine Paulissen" userId="d4ad135d-2514-410f-98a0-1ed2d34fbfbf" providerId="ADAL" clId="{C2AD953A-001F-4369-9D6D-C6ED6005E4A3}" dt="2025-09-22T12:55:08.486" v="2" actId="20577"/>
        <pc:sldMkLst>
          <pc:docMk/>
          <pc:sldMk cId="153630588" sldId="271"/>
        </pc:sldMkLst>
      </pc:sldChg>
      <pc:sldChg chg="modNotesTx">
        <pc:chgData name="Toine Paulissen" userId="d4ad135d-2514-410f-98a0-1ed2d34fbfbf" providerId="ADAL" clId="{C2AD953A-001F-4369-9D6D-C6ED6005E4A3}" dt="2025-09-22T12:55:11.813" v="3" actId="20577"/>
        <pc:sldMkLst>
          <pc:docMk/>
          <pc:sldMk cId="4206440729" sldId="273"/>
        </pc:sldMkLst>
      </pc:sldChg>
      <pc:sldChg chg="modNotesTx">
        <pc:chgData name="Toine Paulissen" userId="d4ad135d-2514-410f-98a0-1ed2d34fbfbf" providerId="ADAL" clId="{C2AD953A-001F-4369-9D6D-C6ED6005E4A3}" dt="2025-09-22T12:55:23.892" v="6" actId="20577"/>
        <pc:sldMkLst>
          <pc:docMk/>
          <pc:sldMk cId="885736311" sldId="274"/>
        </pc:sldMkLst>
      </pc:sldChg>
      <pc:sldChg chg="modNotesTx">
        <pc:chgData name="Toine Paulissen" userId="d4ad135d-2514-410f-98a0-1ed2d34fbfbf" providerId="ADAL" clId="{C2AD953A-001F-4369-9D6D-C6ED6005E4A3}" dt="2025-09-22T12:55:41.560" v="10" actId="20577"/>
        <pc:sldMkLst>
          <pc:docMk/>
          <pc:sldMk cId="3009462959" sldId="279"/>
        </pc:sldMkLst>
      </pc:sldChg>
      <pc:sldChg chg="modNotesTx">
        <pc:chgData name="Toine Paulissen" userId="d4ad135d-2514-410f-98a0-1ed2d34fbfbf" providerId="ADAL" clId="{C2AD953A-001F-4369-9D6D-C6ED6005E4A3}" dt="2025-09-22T12:55:38.635" v="9" actId="20577"/>
        <pc:sldMkLst>
          <pc:docMk/>
          <pc:sldMk cId="1586633498" sldId="280"/>
        </pc:sldMkLst>
      </pc:sldChg>
      <pc:sldChg chg="modNotesTx">
        <pc:chgData name="Toine Paulissen" userId="d4ad135d-2514-410f-98a0-1ed2d34fbfbf" providerId="ADAL" clId="{C2AD953A-001F-4369-9D6D-C6ED6005E4A3}" dt="2025-09-22T12:55:16.953" v="4" actId="20577"/>
        <pc:sldMkLst>
          <pc:docMk/>
          <pc:sldMk cId="3240875171" sldId="281"/>
        </pc:sldMkLst>
      </pc:sldChg>
      <pc:sldChg chg="modNotesTx">
        <pc:chgData name="Toine Paulissen" userId="d4ad135d-2514-410f-98a0-1ed2d34fbfbf" providerId="ADAL" clId="{C2AD953A-001F-4369-9D6D-C6ED6005E4A3}" dt="2025-09-22T12:55:20.963" v="5" actId="20577"/>
        <pc:sldMkLst>
          <pc:docMk/>
          <pc:sldMk cId="2495064012" sldId="282"/>
        </pc:sldMkLst>
      </pc:sldChg>
      <pc:sldChg chg="modNotesTx">
        <pc:chgData name="Toine Paulissen" userId="d4ad135d-2514-410f-98a0-1ed2d34fbfbf" providerId="ADAL" clId="{C2AD953A-001F-4369-9D6D-C6ED6005E4A3}" dt="2025-09-22T12:55:34.506" v="8" actId="20577"/>
        <pc:sldMkLst>
          <pc:docMk/>
          <pc:sldMk cId="3163798306" sldId="283"/>
        </pc:sldMkLst>
      </pc:sldChg>
      <pc:sldChg chg="modNotesTx">
        <pc:chgData name="Toine Paulissen" userId="d4ad135d-2514-410f-98a0-1ed2d34fbfbf" providerId="ADAL" clId="{C2AD953A-001F-4369-9D6D-C6ED6005E4A3}" dt="2025-09-22T12:55:28.397" v="7" actId="20577"/>
        <pc:sldMkLst>
          <pc:docMk/>
          <pc:sldMk cId="1377353458" sldId="284"/>
        </pc:sldMkLst>
      </pc:sldChg>
      <pc:sldChg chg="del">
        <pc:chgData name="Toine Paulissen" userId="d4ad135d-2514-410f-98a0-1ed2d34fbfbf" providerId="ADAL" clId="{C2AD953A-001F-4369-9D6D-C6ED6005E4A3}" dt="2025-09-22T12:55:54.418" v="11" actId="47"/>
        <pc:sldMkLst>
          <pc:docMk/>
          <pc:sldMk cId="3948623416" sldId="287"/>
        </pc:sldMkLst>
      </pc:sldChg>
      <pc:sldChg chg="del">
        <pc:chgData name="Toine Paulissen" userId="d4ad135d-2514-410f-98a0-1ed2d34fbfbf" providerId="ADAL" clId="{C2AD953A-001F-4369-9D6D-C6ED6005E4A3}" dt="2025-09-22T12:55:54.418" v="11" actId="47"/>
        <pc:sldMkLst>
          <pc:docMk/>
          <pc:sldMk cId="433800639" sldId="299"/>
        </pc:sldMkLst>
      </pc:sldChg>
      <pc:sldChg chg="del">
        <pc:chgData name="Toine Paulissen" userId="d4ad135d-2514-410f-98a0-1ed2d34fbfbf" providerId="ADAL" clId="{C2AD953A-001F-4369-9D6D-C6ED6005E4A3}" dt="2025-09-22T12:55:54.418" v="11" actId="47"/>
        <pc:sldMkLst>
          <pc:docMk/>
          <pc:sldMk cId="1041173241" sldId="300"/>
        </pc:sldMkLst>
      </pc:sldChg>
      <pc:sldChg chg="del">
        <pc:chgData name="Toine Paulissen" userId="d4ad135d-2514-410f-98a0-1ed2d34fbfbf" providerId="ADAL" clId="{C2AD953A-001F-4369-9D6D-C6ED6005E4A3}" dt="2025-09-22T12:55:54.418" v="11" actId="47"/>
        <pc:sldMkLst>
          <pc:docMk/>
          <pc:sldMk cId="3999969314" sldId="303"/>
        </pc:sldMkLst>
      </pc:sldChg>
      <pc:sldChg chg="del">
        <pc:chgData name="Toine Paulissen" userId="d4ad135d-2514-410f-98a0-1ed2d34fbfbf" providerId="ADAL" clId="{C2AD953A-001F-4369-9D6D-C6ED6005E4A3}" dt="2025-09-22T12:55:54.418" v="11" actId="47"/>
        <pc:sldMkLst>
          <pc:docMk/>
          <pc:sldMk cId="1385063940" sldId="304"/>
        </pc:sldMkLst>
      </pc:sldChg>
      <pc:sldChg chg="del">
        <pc:chgData name="Toine Paulissen" userId="d4ad135d-2514-410f-98a0-1ed2d34fbfbf" providerId="ADAL" clId="{C2AD953A-001F-4369-9D6D-C6ED6005E4A3}" dt="2025-09-22T12:55:54.418" v="11" actId="47"/>
        <pc:sldMkLst>
          <pc:docMk/>
          <pc:sldMk cId="2437539577"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528615-6EA8-48BA-A8BC-6A1899F421C1}" type="datetimeFigureOut">
              <a:rPr lang="nl-BE" smtClean="0"/>
              <a:t>22/09/2025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DFEFBF-B1DE-4B21-A2A6-78A797E112B7}" type="slidenum">
              <a:rPr lang="nl-BE" smtClean="0"/>
              <a:t>‹#›</a:t>
            </a:fld>
            <a:endParaRPr lang="nl-BE"/>
          </a:p>
        </p:txBody>
      </p:sp>
    </p:spTree>
    <p:extLst>
      <p:ext uri="{BB962C8B-B14F-4D97-AF65-F5344CB8AC3E}">
        <p14:creationId xmlns:p14="http://schemas.microsoft.com/office/powerpoint/2010/main" val="913955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a:t>
            </a:fld>
            <a:endParaRPr lang="nl-BE"/>
          </a:p>
        </p:txBody>
      </p:sp>
    </p:spTree>
    <p:extLst>
      <p:ext uri="{BB962C8B-B14F-4D97-AF65-F5344CB8AC3E}">
        <p14:creationId xmlns:p14="http://schemas.microsoft.com/office/powerpoint/2010/main" val="1205970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2</a:t>
            </a:fld>
            <a:endParaRPr lang="nl-BE"/>
          </a:p>
        </p:txBody>
      </p:sp>
    </p:spTree>
    <p:extLst>
      <p:ext uri="{BB962C8B-B14F-4D97-AF65-F5344CB8AC3E}">
        <p14:creationId xmlns:p14="http://schemas.microsoft.com/office/powerpoint/2010/main" val="2209953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3</a:t>
            </a:fld>
            <a:endParaRPr lang="nl-BE"/>
          </a:p>
        </p:txBody>
      </p:sp>
    </p:spTree>
    <p:extLst>
      <p:ext uri="{BB962C8B-B14F-4D97-AF65-F5344CB8AC3E}">
        <p14:creationId xmlns:p14="http://schemas.microsoft.com/office/powerpoint/2010/main" val="469818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07122-D0E2-1D91-3B1A-152348D63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680BA-A59F-3DD6-1FDF-E09E65854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8DF2C-6CAF-F82E-53D8-45B87AC169AC}"/>
              </a:ext>
            </a:extLst>
          </p:cNvPr>
          <p:cNvSpPr>
            <a:spLocks noGrp="1"/>
          </p:cNvSpPr>
          <p:nvPr>
            <p:ph type="body" idx="1"/>
          </p:nvPr>
        </p:nvSpPr>
        <p:spPr/>
        <p:txBody>
          <a:bodyPr/>
          <a:lstStyle/>
          <a:p>
            <a:pPr marL="171450" indent="-171450">
              <a:buFontTx/>
              <a:buChar char="-"/>
            </a:pPr>
            <a:endParaRPr lang="nl-BE" dirty="0"/>
          </a:p>
        </p:txBody>
      </p:sp>
      <p:sp>
        <p:nvSpPr>
          <p:cNvPr id="4" name="Slide Number Placeholder 3">
            <a:extLst>
              <a:ext uri="{FF2B5EF4-FFF2-40B4-BE49-F238E27FC236}">
                <a16:creationId xmlns:a16="http://schemas.microsoft.com/office/drawing/2014/main" id="{3E85BB5E-94A1-8065-7DED-FD14F703F045}"/>
              </a:ext>
            </a:extLst>
          </p:cNvPr>
          <p:cNvSpPr>
            <a:spLocks noGrp="1"/>
          </p:cNvSpPr>
          <p:nvPr>
            <p:ph type="sldNum" sz="quarter" idx="5"/>
          </p:nvPr>
        </p:nvSpPr>
        <p:spPr/>
        <p:txBody>
          <a:bodyPr/>
          <a:lstStyle/>
          <a:p>
            <a:fld id="{F7DFEFBF-B1DE-4B21-A2A6-78A797E112B7}" type="slidenum">
              <a:rPr lang="nl-BE" smtClean="0"/>
              <a:t>4</a:t>
            </a:fld>
            <a:endParaRPr lang="nl-BE"/>
          </a:p>
        </p:txBody>
      </p:sp>
    </p:spTree>
    <p:extLst>
      <p:ext uri="{BB962C8B-B14F-4D97-AF65-F5344CB8AC3E}">
        <p14:creationId xmlns:p14="http://schemas.microsoft.com/office/powerpoint/2010/main" val="215653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46180-9A25-8C83-4F40-DF1D9083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7D50F-A0F5-C828-B34F-A9219150E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7273B-6EFE-F660-8627-B02AAEE0EE39}"/>
              </a:ext>
            </a:extLst>
          </p:cNvPr>
          <p:cNvSpPr>
            <a:spLocks noGrp="1"/>
          </p:cNvSpPr>
          <p:nvPr>
            <p:ph type="body" idx="1"/>
          </p:nvPr>
        </p:nvSpPr>
        <p:spPr/>
        <p:txBody>
          <a:bodyPr/>
          <a:lstStyle/>
          <a:p>
            <a:pPr marL="171450" indent="-171450">
              <a:buFontTx/>
              <a:buChar char="-"/>
            </a:pPr>
            <a:endParaRPr lang="nl-BE" dirty="0"/>
          </a:p>
        </p:txBody>
      </p:sp>
      <p:sp>
        <p:nvSpPr>
          <p:cNvPr id="4" name="Slide Number Placeholder 3">
            <a:extLst>
              <a:ext uri="{FF2B5EF4-FFF2-40B4-BE49-F238E27FC236}">
                <a16:creationId xmlns:a16="http://schemas.microsoft.com/office/drawing/2014/main" id="{C7D472E8-8AC4-EDC4-01CA-BE09E1A51373}"/>
              </a:ext>
            </a:extLst>
          </p:cNvPr>
          <p:cNvSpPr>
            <a:spLocks noGrp="1"/>
          </p:cNvSpPr>
          <p:nvPr>
            <p:ph type="sldNum" sz="quarter" idx="5"/>
          </p:nvPr>
        </p:nvSpPr>
        <p:spPr/>
        <p:txBody>
          <a:bodyPr/>
          <a:lstStyle/>
          <a:p>
            <a:fld id="{F7DFEFBF-B1DE-4B21-A2A6-78A797E112B7}" type="slidenum">
              <a:rPr lang="nl-BE" smtClean="0"/>
              <a:t>5</a:t>
            </a:fld>
            <a:endParaRPr lang="nl-BE"/>
          </a:p>
        </p:txBody>
      </p:sp>
    </p:spTree>
    <p:extLst>
      <p:ext uri="{BB962C8B-B14F-4D97-AF65-F5344CB8AC3E}">
        <p14:creationId xmlns:p14="http://schemas.microsoft.com/office/powerpoint/2010/main" val="3673535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7B517546-31EA-4AED-B380-670264EEF2FC}" type="slidenum">
              <a:rPr lang="nl-BE" smtClean="0"/>
              <a:t>6</a:t>
            </a:fld>
            <a:endParaRPr lang="nl-BE"/>
          </a:p>
        </p:txBody>
      </p:sp>
    </p:spTree>
    <p:extLst>
      <p:ext uri="{BB962C8B-B14F-4D97-AF65-F5344CB8AC3E}">
        <p14:creationId xmlns:p14="http://schemas.microsoft.com/office/powerpoint/2010/main" val="573764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8</a:t>
            </a:fld>
            <a:endParaRPr lang="nl-BE"/>
          </a:p>
        </p:txBody>
      </p:sp>
    </p:spTree>
    <p:extLst>
      <p:ext uri="{BB962C8B-B14F-4D97-AF65-F5344CB8AC3E}">
        <p14:creationId xmlns:p14="http://schemas.microsoft.com/office/powerpoint/2010/main" val="4198759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21FD-6166-7F26-EFF2-8B9F1E3FC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41D8A-61D4-3317-85F2-8018E5B8C4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AFD00-0C25-5672-C63F-C2828274E8ED}"/>
              </a:ext>
            </a:extLst>
          </p:cNvPr>
          <p:cNvSpPr>
            <a:spLocks noGrp="1"/>
          </p:cNvSpPr>
          <p:nvPr>
            <p:ph type="body" idx="1"/>
          </p:nvPr>
        </p:nvSpPr>
        <p:spPr/>
        <p:txBody>
          <a:bodyPr/>
          <a:lstStyle/>
          <a:p>
            <a:pPr marL="0" indent="0">
              <a:buFontTx/>
              <a:buNone/>
            </a:pPr>
            <a:endParaRPr lang="nl-BE" dirty="0"/>
          </a:p>
        </p:txBody>
      </p:sp>
      <p:sp>
        <p:nvSpPr>
          <p:cNvPr id="4" name="Slide Number Placeholder 3">
            <a:extLst>
              <a:ext uri="{FF2B5EF4-FFF2-40B4-BE49-F238E27FC236}">
                <a16:creationId xmlns:a16="http://schemas.microsoft.com/office/drawing/2014/main" id="{38605FC7-CA2E-1716-1234-B54AF7766035}"/>
              </a:ext>
            </a:extLst>
          </p:cNvPr>
          <p:cNvSpPr>
            <a:spLocks noGrp="1"/>
          </p:cNvSpPr>
          <p:nvPr>
            <p:ph type="sldNum" sz="quarter" idx="5"/>
          </p:nvPr>
        </p:nvSpPr>
        <p:spPr/>
        <p:txBody>
          <a:bodyPr/>
          <a:lstStyle/>
          <a:p>
            <a:fld id="{F7DFEFBF-B1DE-4B21-A2A6-78A797E112B7}" type="slidenum">
              <a:rPr lang="nl-BE" smtClean="0"/>
              <a:t>9</a:t>
            </a:fld>
            <a:endParaRPr lang="nl-BE"/>
          </a:p>
        </p:txBody>
      </p:sp>
    </p:spTree>
    <p:extLst>
      <p:ext uri="{BB962C8B-B14F-4D97-AF65-F5344CB8AC3E}">
        <p14:creationId xmlns:p14="http://schemas.microsoft.com/office/powerpoint/2010/main" val="51941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10</a:t>
            </a:fld>
            <a:endParaRPr lang="nl-BE"/>
          </a:p>
        </p:txBody>
      </p:sp>
    </p:spTree>
    <p:extLst>
      <p:ext uri="{BB962C8B-B14F-4D97-AF65-F5344CB8AC3E}">
        <p14:creationId xmlns:p14="http://schemas.microsoft.com/office/powerpoint/2010/main" val="3354375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11</a:t>
            </a:fld>
            <a:endParaRPr lang="nl-BE"/>
          </a:p>
        </p:txBody>
      </p:sp>
    </p:spTree>
    <p:extLst>
      <p:ext uri="{BB962C8B-B14F-4D97-AF65-F5344CB8AC3E}">
        <p14:creationId xmlns:p14="http://schemas.microsoft.com/office/powerpoint/2010/main" val="4017398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C1D0-C73F-C3A3-7B90-4B13889CE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8F43D-14E7-685C-3238-121ECEE7D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B5B47-04A9-5F6D-51DD-990E7280CF02}"/>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3500C8B8-A483-13F6-2BF8-599B000ED1E5}"/>
              </a:ext>
            </a:extLst>
          </p:cNvPr>
          <p:cNvSpPr>
            <a:spLocks noGrp="1"/>
          </p:cNvSpPr>
          <p:nvPr>
            <p:ph type="sldNum" sz="quarter" idx="5"/>
          </p:nvPr>
        </p:nvSpPr>
        <p:spPr/>
        <p:txBody>
          <a:bodyPr/>
          <a:lstStyle/>
          <a:p>
            <a:fld id="{F7DFEFBF-B1DE-4B21-A2A6-78A797E112B7}" type="slidenum">
              <a:rPr lang="nl-BE" smtClean="0"/>
              <a:t>12</a:t>
            </a:fld>
            <a:endParaRPr lang="nl-BE"/>
          </a:p>
        </p:txBody>
      </p:sp>
    </p:spTree>
    <p:extLst>
      <p:ext uri="{BB962C8B-B14F-4D97-AF65-F5344CB8AC3E}">
        <p14:creationId xmlns:p14="http://schemas.microsoft.com/office/powerpoint/2010/main" val="30083750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47371-7103-B91A-4497-53F5711F5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B30FD-34A2-D141-5004-156CAD59A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76905-94B6-4925-A518-958DAD6E34BB}"/>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1CEF4BA4-0F69-B6A8-F31E-233FFB6AB169}"/>
              </a:ext>
            </a:extLst>
          </p:cNvPr>
          <p:cNvSpPr>
            <a:spLocks noGrp="1"/>
          </p:cNvSpPr>
          <p:nvPr>
            <p:ph type="sldNum" sz="quarter" idx="5"/>
          </p:nvPr>
        </p:nvSpPr>
        <p:spPr/>
        <p:txBody>
          <a:bodyPr/>
          <a:lstStyle/>
          <a:p>
            <a:fld id="{F7DFEFBF-B1DE-4B21-A2A6-78A797E112B7}" type="slidenum">
              <a:rPr lang="nl-BE" smtClean="0"/>
              <a:t>13</a:t>
            </a:fld>
            <a:endParaRPr lang="nl-BE"/>
          </a:p>
        </p:txBody>
      </p:sp>
    </p:spTree>
    <p:extLst>
      <p:ext uri="{BB962C8B-B14F-4D97-AF65-F5344CB8AC3E}">
        <p14:creationId xmlns:p14="http://schemas.microsoft.com/office/powerpoint/2010/main" val="3993375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4248-16CB-A49F-2E4E-E6408CAA5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8697A-81F9-82BC-D893-94D3A08A2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0B2BC-7054-90E2-59DF-66AF42E1011A}"/>
              </a:ext>
            </a:extLst>
          </p:cNvPr>
          <p:cNvSpPr>
            <a:spLocks noGrp="1"/>
          </p:cNvSpPr>
          <p:nvPr>
            <p:ph type="body" idx="1"/>
          </p:nvPr>
        </p:nvSpPr>
        <p:spPr/>
        <p:txBody>
          <a:bodyPr/>
          <a:lstStyle/>
          <a:p>
            <a:endParaRPr lang="nl-BE" dirty="0"/>
          </a:p>
        </p:txBody>
      </p:sp>
      <p:sp>
        <p:nvSpPr>
          <p:cNvPr id="4" name="Slide Number Placeholder 3">
            <a:extLst>
              <a:ext uri="{FF2B5EF4-FFF2-40B4-BE49-F238E27FC236}">
                <a16:creationId xmlns:a16="http://schemas.microsoft.com/office/drawing/2014/main" id="{210DA9ED-C209-BE7B-5B0E-AB1FC45DF3E8}"/>
              </a:ext>
            </a:extLst>
          </p:cNvPr>
          <p:cNvSpPr>
            <a:spLocks noGrp="1"/>
          </p:cNvSpPr>
          <p:nvPr>
            <p:ph type="sldNum" sz="quarter" idx="5"/>
          </p:nvPr>
        </p:nvSpPr>
        <p:spPr/>
        <p:txBody>
          <a:bodyPr/>
          <a:lstStyle/>
          <a:p>
            <a:fld id="{F7DFEFBF-B1DE-4B21-A2A6-78A797E112B7}" type="slidenum">
              <a:rPr lang="nl-BE" smtClean="0"/>
              <a:t>14</a:t>
            </a:fld>
            <a:endParaRPr lang="nl-BE"/>
          </a:p>
        </p:txBody>
      </p:sp>
    </p:spTree>
    <p:extLst>
      <p:ext uri="{BB962C8B-B14F-4D97-AF65-F5344CB8AC3E}">
        <p14:creationId xmlns:p14="http://schemas.microsoft.com/office/powerpoint/2010/main" val="2966362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15</a:t>
            </a:fld>
            <a:endParaRPr lang="nl-BE"/>
          </a:p>
        </p:txBody>
      </p:sp>
    </p:spTree>
    <p:extLst>
      <p:ext uri="{BB962C8B-B14F-4D97-AF65-F5344CB8AC3E}">
        <p14:creationId xmlns:p14="http://schemas.microsoft.com/office/powerpoint/2010/main" val="2253571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16</a:t>
            </a:fld>
            <a:endParaRPr lang="nl-BE"/>
          </a:p>
        </p:txBody>
      </p:sp>
    </p:spTree>
    <p:extLst>
      <p:ext uri="{BB962C8B-B14F-4D97-AF65-F5344CB8AC3E}">
        <p14:creationId xmlns:p14="http://schemas.microsoft.com/office/powerpoint/2010/main" val="279339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7DFEFBF-B1DE-4B21-A2A6-78A797E112B7}" type="slidenum">
              <a:rPr lang="nl-BE" smtClean="0"/>
              <a:t>18</a:t>
            </a:fld>
            <a:endParaRPr lang="nl-BE"/>
          </a:p>
        </p:txBody>
      </p:sp>
    </p:spTree>
    <p:extLst>
      <p:ext uri="{BB962C8B-B14F-4D97-AF65-F5344CB8AC3E}">
        <p14:creationId xmlns:p14="http://schemas.microsoft.com/office/powerpoint/2010/main" val="2756712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F4C5-BFA6-7BBE-000E-D17EA32742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a:extLst>
              <a:ext uri="{FF2B5EF4-FFF2-40B4-BE49-F238E27FC236}">
                <a16:creationId xmlns:a16="http://schemas.microsoft.com/office/drawing/2014/main" id="{3982F612-BF92-E678-3443-AD85F37C71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a:extLst>
              <a:ext uri="{FF2B5EF4-FFF2-40B4-BE49-F238E27FC236}">
                <a16:creationId xmlns:a16="http://schemas.microsoft.com/office/drawing/2014/main" id="{692E19A7-5D4B-57A4-5A6E-88D636760D7A}"/>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1E52478E-D35C-F985-FFC5-2065265BFC6D}"/>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2E206841-C5C2-C9AE-78FE-38E719F1021B}"/>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284483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54B2-CCA8-1124-B3B1-FBDDB0683675}"/>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CEE626FD-6681-4B33-367E-7C67BB40EC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3FAFA660-2E4D-59DD-C1BC-CB0D779A1190}"/>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1CA35297-460E-EAB8-831C-9DBD79B0BABF}"/>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6CAE3A4D-8D72-E6E9-9D42-621AD8A1A372}"/>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2710758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D20C-E787-6E28-076D-C299D3A804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a:extLst>
              <a:ext uri="{FF2B5EF4-FFF2-40B4-BE49-F238E27FC236}">
                <a16:creationId xmlns:a16="http://schemas.microsoft.com/office/drawing/2014/main" id="{635C7F6D-3FC8-8BE3-52F5-F14FF5EDFA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255C3-E939-ED13-79B3-947F78872D34}"/>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CEE1D522-F19D-3F18-285D-7DED4E4A8034}"/>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3A5DEB95-E883-BCBB-A3E4-7DF7C97DC3CF}"/>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338809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9A2A-6695-7118-2628-4F5561B1AD77}"/>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96D7ABEE-49AA-DE77-5888-647247CFF5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a:extLst>
              <a:ext uri="{FF2B5EF4-FFF2-40B4-BE49-F238E27FC236}">
                <a16:creationId xmlns:a16="http://schemas.microsoft.com/office/drawing/2014/main" id="{2B9D2234-FA8F-23D2-C536-69D8160A2B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a:extLst>
              <a:ext uri="{FF2B5EF4-FFF2-40B4-BE49-F238E27FC236}">
                <a16:creationId xmlns:a16="http://schemas.microsoft.com/office/drawing/2014/main" id="{C2C52149-7745-6EF6-2E7B-B76B645FDC45}"/>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6" name="Footer Placeholder 5">
            <a:extLst>
              <a:ext uri="{FF2B5EF4-FFF2-40B4-BE49-F238E27FC236}">
                <a16:creationId xmlns:a16="http://schemas.microsoft.com/office/drawing/2014/main" id="{FDE7EE91-0CDA-EC48-1380-F79A48977D28}"/>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B26F5C80-2B4A-A6B9-D196-E9534E6E4E72}"/>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1022788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A51DE-80FC-B6EC-4320-46B144DD6F14}"/>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a:extLst>
              <a:ext uri="{FF2B5EF4-FFF2-40B4-BE49-F238E27FC236}">
                <a16:creationId xmlns:a16="http://schemas.microsoft.com/office/drawing/2014/main" id="{DCB1DC7B-F130-1716-8D41-D2F4C9253B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D115B-DF50-45DC-4DE1-6A90D7D293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a:extLst>
              <a:ext uri="{FF2B5EF4-FFF2-40B4-BE49-F238E27FC236}">
                <a16:creationId xmlns:a16="http://schemas.microsoft.com/office/drawing/2014/main" id="{BF76EA35-8426-A5FB-E722-F65A048145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6B2685-59DC-29D4-8F79-56157DB5A4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a:extLst>
              <a:ext uri="{FF2B5EF4-FFF2-40B4-BE49-F238E27FC236}">
                <a16:creationId xmlns:a16="http://schemas.microsoft.com/office/drawing/2014/main" id="{CC68A036-1C16-950D-4F54-D29F969ABF60}"/>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8" name="Footer Placeholder 7">
            <a:extLst>
              <a:ext uri="{FF2B5EF4-FFF2-40B4-BE49-F238E27FC236}">
                <a16:creationId xmlns:a16="http://schemas.microsoft.com/office/drawing/2014/main" id="{D3E6C4C8-23E2-9701-34C3-E1A91AB3C6FE}"/>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DBA18DE0-FDDA-FCF5-1614-00B7B48EF391}"/>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3896185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2E9F2-70C8-FEDF-ECB0-22C1E49868DC}"/>
              </a:ext>
            </a:extLst>
          </p:cNvPr>
          <p:cNvSpPr>
            <a:spLocks noGrp="1"/>
          </p:cNvSpPr>
          <p:nvPr>
            <p:ph type="title"/>
          </p:nvPr>
        </p:nvSpPr>
        <p:spPr/>
        <p:txBody>
          <a:bodyPr/>
          <a:lstStyle/>
          <a:p>
            <a:r>
              <a:rPr lang="en-US"/>
              <a:t>Click to edit Master title style</a:t>
            </a:r>
            <a:endParaRPr lang="nl-BE"/>
          </a:p>
        </p:txBody>
      </p:sp>
      <p:sp>
        <p:nvSpPr>
          <p:cNvPr id="3" name="Date Placeholder 2">
            <a:extLst>
              <a:ext uri="{FF2B5EF4-FFF2-40B4-BE49-F238E27FC236}">
                <a16:creationId xmlns:a16="http://schemas.microsoft.com/office/drawing/2014/main" id="{B122128D-A2D0-36C2-1371-A88BD51E238E}"/>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4" name="Footer Placeholder 3">
            <a:extLst>
              <a:ext uri="{FF2B5EF4-FFF2-40B4-BE49-F238E27FC236}">
                <a16:creationId xmlns:a16="http://schemas.microsoft.com/office/drawing/2014/main" id="{4F06A7E9-2DC2-9E6F-5839-673B469DAA2A}"/>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0F1750C1-B8A3-26C3-6F7E-8E8F9F6E4341}"/>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4262195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66E0CC-CEDF-862B-3E08-82CE38347398}"/>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3" name="Footer Placeholder 2">
            <a:extLst>
              <a:ext uri="{FF2B5EF4-FFF2-40B4-BE49-F238E27FC236}">
                <a16:creationId xmlns:a16="http://schemas.microsoft.com/office/drawing/2014/main" id="{FB350E60-4BCD-5D45-60F8-F902E3394ECD}"/>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D1021881-6796-3CC1-28C7-5025EFDDB9C9}"/>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10098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DFD9-AA01-BA4A-243F-A9AFD2B5B6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a:extLst>
              <a:ext uri="{FF2B5EF4-FFF2-40B4-BE49-F238E27FC236}">
                <a16:creationId xmlns:a16="http://schemas.microsoft.com/office/drawing/2014/main" id="{0DE9EC7D-6639-680C-8D73-9BDC548509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a:extLst>
              <a:ext uri="{FF2B5EF4-FFF2-40B4-BE49-F238E27FC236}">
                <a16:creationId xmlns:a16="http://schemas.microsoft.com/office/drawing/2014/main" id="{0015D955-D205-11E7-4129-BF5479C9C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AC990-1BBE-9D53-1BD2-82FAC075CEF6}"/>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6" name="Footer Placeholder 5">
            <a:extLst>
              <a:ext uri="{FF2B5EF4-FFF2-40B4-BE49-F238E27FC236}">
                <a16:creationId xmlns:a16="http://schemas.microsoft.com/office/drawing/2014/main" id="{C70C451D-09B5-9027-6188-7200716DDA6C}"/>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E09FF0F7-22CE-BCF4-7249-6E5FFFDC1052}"/>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57189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310DF-56F4-607C-8253-BA91935854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a:extLst>
              <a:ext uri="{FF2B5EF4-FFF2-40B4-BE49-F238E27FC236}">
                <a16:creationId xmlns:a16="http://schemas.microsoft.com/office/drawing/2014/main" id="{5C3C61CE-8C3B-895D-777C-7A28B6ACF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232F922D-BA23-5A83-0B53-B6A0D3540C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EF63F3-CF25-1FA9-A790-27F6DDCF8B2C}"/>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6" name="Footer Placeholder 5">
            <a:extLst>
              <a:ext uri="{FF2B5EF4-FFF2-40B4-BE49-F238E27FC236}">
                <a16:creationId xmlns:a16="http://schemas.microsoft.com/office/drawing/2014/main" id="{D951EB4E-65DB-9D0C-DECF-7B9E210C7529}"/>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AE789EEA-0636-CF6E-6332-BF6C078AC5F0}"/>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2125473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E5E3-42BA-06E4-1EA4-5A5B47F940D6}"/>
              </a:ext>
            </a:extLst>
          </p:cNvPr>
          <p:cNvSpPr>
            <a:spLocks noGrp="1"/>
          </p:cNvSpPr>
          <p:nvPr>
            <p:ph type="title"/>
          </p:nvPr>
        </p:nvSpPr>
        <p:spPr/>
        <p:txBody>
          <a:bodyPr/>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CD5CB329-342C-7E6B-F3B5-5451CBCD48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BC11B990-8FC6-3661-6B0C-859473EABCCD}"/>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E4C5E077-E1F9-A23E-C6FA-FC1694411730}"/>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02EE88D1-466B-3F13-900B-869D999E909F}"/>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3361509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CDE8CE-68B5-93A5-4BB2-754022B9AE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1C48FFE0-6C05-D90B-C963-B4B0BE6777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BA421027-3EDB-BFAF-5925-1A7C724319E2}"/>
              </a:ext>
            </a:extLst>
          </p:cNvPr>
          <p:cNvSpPr>
            <a:spLocks noGrp="1"/>
          </p:cNvSpPr>
          <p:nvPr>
            <p:ph type="dt" sz="half" idx="10"/>
          </p:nvPr>
        </p:nvSpPr>
        <p:spPr/>
        <p:txBody>
          <a:body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E3A2A8E0-C667-2A66-111B-AE76D990166A}"/>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6BEE431D-30A2-08BB-306B-51687F6D8A89}"/>
              </a:ext>
            </a:extLst>
          </p:cNvPr>
          <p:cNvSpPr>
            <a:spLocks noGrp="1"/>
          </p:cNvSpPr>
          <p:nvPr>
            <p:ph type="sldNum" sz="quarter" idx="12"/>
          </p:nvPr>
        </p:nvSpPr>
        <p:spPr/>
        <p:txBody>
          <a:bodyPr/>
          <a:lstStyle/>
          <a:p>
            <a:fld id="{54F260A1-0AE2-44D0-91B2-5C47C77598FB}" type="slidenum">
              <a:rPr lang="nl-BE" smtClean="0"/>
              <a:t>‹#›</a:t>
            </a:fld>
            <a:endParaRPr lang="nl-BE"/>
          </a:p>
        </p:txBody>
      </p:sp>
    </p:spTree>
    <p:extLst>
      <p:ext uri="{BB962C8B-B14F-4D97-AF65-F5344CB8AC3E}">
        <p14:creationId xmlns:p14="http://schemas.microsoft.com/office/powerpoint/2010/main" val="270329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D7EAE-F83F-EF42-6F15-5130AE3753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a:extLst>
              <a:ext uri="{FF2B5EF4-FFF2-40B4-BE49-F238E27FC236}">
                <a16:creationId xmlns:a16="http://schemas.microsoft.com/office/drawing/2014/main" id="{ED9968DE-ACF7-98FE-F6B6-445EED3D27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375FD3FD-371E-6175-0469-B64D6D1903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7E70C0-A069-4DAD-A3FA-4EBFA36726B5}" type="datetimeFigureOut">
              <a:rPr lang="nl-BE" smtClean="0"/>
              <a:t>22/09/2025</a:t>
            </a:fld>
            <a:endParaRPr lang="nl-BE"/>
          </a:p>
        </p:txBody>
      </p:sp>
      <p:sp>
        <p:nvSpPr>
          <p:cNvPr id="5" name="Footer Placeholder 4">
            <a:extLst>
              <a:ext uri="{FF2B5EF4-FFF2-40B4-BE49-F238E27FC236}">
                <a16:creationId xmlns:a16="http://schemas.microsoft.com/office/drawing/2014/main" id="{563CD438-E8D6-25A7-5077-FBF6700C34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Slide Number Placeholder 5">
            <a:extLst>
              <a:ext uri="{FF2B5EF4-FFF2-40B4-BE49-F238E27FC236}">
                <a16:creationId xmlns:a16="http://schemas.microsoft.com/office/drawing/2014/main" id="{80F540FA-48E0-896E-A92A-CD79EF445F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F260A1-0AE2-44D0-91B2-5C47C77598FB}" type="slidenum">
              <a:rPr lang="nl-BE" smtClean="0"/>
              <a:t>‹#›</a:t>
            </a:fld>
            <a:endParaRPr lang="nl-BE"/>
          </a:p>
        </p:txBody>
      </p:sp>
    </p:spTree>
    <p:extLst>
      <p:ext uri="{BB962C8B-B14F-4D97-AF65-F5344CB8AC3E}">
        <p14:creationId xmlns:p14="http://schemas.microsoft.com/office/powerpoint/2010/main" val="980081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dx.doi.org/10.34172/ijhpm.8497"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86E40-3646-D8DF-50BD-FF01708F4B8B}"/>
              </a:ext>
            </a:extLst>
          </p:cNvPr>
          <p:cNvSpPr>
            <a:spLocks noGrp="1"/>
          </p:cNvSpPr>
          <p:nvPr>
            <p:ph type="title"/>
          </p:nvPr>
        </p:nvSpPr>
        <p:spPr/>
        <p:txBody>
          <a:bodyPr>
            <a:normAutofit/>
          </a:bodyPr>
          <a:lstStyle/>
          <a:p>
            <a:pPr algn="ctr"/>
            <a:r>
              <a:rPr lang="en-US" sz="4000" dirty="0"/>
              <a:t>ICYMI: Video Lecture on Loop (link to YT)</a:t>
            </a:r>
            <a:endParaRPr lang="nl-BE" sz="4000" dirty="0"/>
          </a:p>
        </p:txBody>
      </p:sp>
      <p:sp>
        <p:nvSpPr>
          <p:cNvPr id="3" name="Content Placeholder 2">
            <a:extLst>
              <a:ext uri="{FF2B5EF4-FFF2-40B4-BE49-F238E27FC236}">
                <a16:creationId xmlns:a16="http://schemas.microsoft.com/office/drawing/2014/main" id="{547F2CB6-276C-6C98-CD0C-E65BFDAD0954}"/>
              </a:ext>
            </a:extLst>
          </p:cNvPr>
          <p:cNvSpPr>
            <a:spLocks noGrp="1"/>
          </p:cNvSpPr>
          <p:nvPr>
            <p:ph idx="1"/>
          </p:nvPr>
        </p:nvSpPr>
        <p:spPr/>
        <p:txBody>
          <a:bodyPr/>
          <a:lstStyle/>
          <a:p>
            <a:endParaRPr lang="nl-BE"/>
          </a:p>
        </p:txBody>
      </p:sp>
      <p:pic>
        <p:nvPicPr>
          <p:cNvPr id="5" name="Picture 4">
            <a:extLst>
              <a:ext uri="{FF2B5EF4-FFF2-40B4-BE49-F238E27FC236}">
                <a16:creationId xmlns:a16="http://schemas.microsoft.com/office/drawing/2014/main" id="{2BF69017-C08D-A611-F8D5-9A2BB218583E}"/>
              </a:ext>
            </a:extLst>
          </p:cNvPr>
          <p:cNvPicPr>
            <a:picLocks noChangeAspect="1"/>
          </p:cNvPicPr>
          <p:nvPr/>
        </p:nvPicPr>
        <p:blipFill>
          <a:blip r:embed="rId3"/>
          <a:stretch>
            <a:fillRect/>
          </a:stretch>
        </p:blipFill>
        <p:spPr>
          <a:xfrm>
            <a:off x="2242343" y="1709726"/>
            <a:ext cx="7707313" cy="5148274"/>
          </a:xfrm>
          <a:prstGeom prst="rect">
            <a:avLst/>
          </a:prstGeom>
        </p:spPr>
      </p:pic>
    </p:spTree>
    <p:extLst>
      <p:ext uri="{BB962C8B-B14F-4D97-AF65-F5344CB8AC3E}">
        <p14:creationId xmlns:p14="http://schemas.microsoft.com/office/powerpoint/2010/main" val="733567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CB95-E692-2422-00E3-DD1EB659D1F9}"/>
              </a:ext>
            </a:extLst>
          </p:cNvPr>
          <p:cNvSpPr>
            <a:spLocks noGrp="1"/>
          </p:cNvSpPr>
          <p:nvPr>
            <p:ph type="title"/>
          </p:nvPr>
        </p:nvSpPr>
        <p:spPr/>
        <p:txBody>
          <a:bodyPr/>
          <a:lstStyle/>
          <a:p>
            <a:r>
              <a:rPr lang="en-US" dirty="0"/>
              <a:t>Preparation 1 is here!</a:t>
            </a:r>
            <a:endParaRPr lang="nl-BE" dirty="0"/>
          </a:p>
        </p:txBody>
      </p:sp>
      <p:sp>
        <p:nvSpPr>
          <p:cNvPr id="3" name="Content Placeholder 2">
            <a:extLst>
              <a:ext uri="{FF2B5EF4-FFF2-40B4-BE49-F238E27FC236}">
                <a16:creationId xmlns:a16="http://schemas.microsoft.com/office/drawing/2014/main" id="{AEE8C584-C1F1-639D-760E-0511E285537A}"/>
              </a:ext>
            </a:extLst>
          </p:cNvPr>
          <p:cNvSpPr>
            <a:spLocks noGrp="1"/>
          </p:cNvSpPr>
          <p:nvPr>
            <p:ph idx="1"/>
          </p:nvPr>
        </p:nvSpPr>
        <p:spPr/>
        <p:txBody>
          <a:bodyPr/>
          <a:lstStyle/>
          <a:p>
            <a:endParaRPr lang="nl-BE"/>
          </a:p>
        </p:txBody>
      </p:sp>
      <p:pic>
        <p:nvPicPr>
          <p:cNvPr id="5" name="Picture 4">
            <a:extLst>
              <a:ext uri="{FF2B5EF4-FFF2-40B4-BE49-F238E27FC236}">
                <a16:creationId xmlns:a16="http://schemas.microsoft.com/office/drawing/2014/main" id="{6A2BF76C-154D-DE13-44CE-EB259F39404F}"/>
              </a:ext>
            </a:extLst>
          </p:cNvPr>
          <p:cNvPicPr>
            <a:picLocks noChangeAspect="1"/>
          </p:cNvPicPr>
          <p:nvPr/>
        </p:nvPicPr>
        <p:blipFill>
          <a:blip r:embed="rId3"/>
          <a:stretch>
            <a:fillRect/>
          </a:stretch>
        </p:blipFill>
        <p:spPr>
          <a:xfrm>
            <a:off x="2524712" y="1460485"/>
            <a:ext cx="7142576" cy="5397515"/>
          </a:xfrm>
          <a:prstGeom prst="rect">
            <a:avLst/>
          </a:prstGeom>
        </p:spPr>
      </p:pic>
    </p:spTree>
    <p:extLst>
      <p:ext uri="{BB962C8B-B14F-4D97-AF65-F5344CB8AC3E}">
        <p14:creationId xmlns:p14="http://schemas.microsoft.com/office/powerpoint/2010/main" val="239888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4957C-0288-10A4-9355-B753CC799A54}"/>
              </a:ext>
            </a:extLst>
          </p:cNvPr>
          <p:cNvSpPr>
            <a:spLocks noGrp="1"/>
          </p:cNvSpPr>
          <p:nvPr>
            <p:ph type="title"/>
          </p:nvPr>
        </p:nvSpPr>
        <p:spPr/>
        <p:txBody>
          <a:bodyPr/>
          <a:lstStyle/>
          <a:p>
            <a:r>
              <a:rPr lang="en-US" dirty="0"/>
              <a:t>MPD in the News: Brussels’ blow to Big Tech</a:t>
            </a:r>
            <a:endParaRPr lang="nl-BE" dirty="0"/>
          </a:p>
        </p:txBody>
      </p:sp>
      <p:pic>
        <p:nvPicPr>
          <p:cNvPr id="7" name="Picture 6">
            <a:extLst>
              <a:ext uri="{FF2B5EF4-FFF2-40B4-BE49-F238E27FC236}">
                <a16:creationId xmlns:a16="http://schemas.microsoft.com/office/drawing/2014/main" id="{0E13645D-BC59-9D3E-40C5-76004E234957}"/>
              </a:ext>
            </a:extLst>
          </p:cNvPr>
          <p:cNvPicPr>
            <a:picLocks noChangeAspect="1"/>
          </p:cNvPicPr>
          <p:nvPr/>
        </p:nvPicPr>
        <p:blipFill>
          <a:blip r:embed="rId3"/>
          <a:srcRect l="-201" r="-29"/>
          <a:stretch/>
        </p:blipFill>
        <p:spPr>
          <a:xfrm>
            <a:off x="1123245" y="1316956"/>
            <a:ext cx="9945510" cy="5269925"/>
          </a:xfrm>
          <a:prstGeom prst="rect">
            <a:avLst/>
          </a:prstGeom>
          <a:ln>
            <a:solidFill>
              <a:srgbClr val="C00000"/>
            </a:solidFill>
          </a:ln>
        </p:spPr>
      </p:pic>
      <p:sp>
        <p:nvSpPr>
          <p:cNvPr id="14" name="TextBox 13">
            <a:extLst>
              <a:ext uri="{FF2B5EF4-FFF2-40B4-BE49-F238E27FC236}">
                <a16:creationId xmlns:a16="http://schemas.microsoft.com/office/drawing/2014/main" id="{94121934-D4E8-93C6-110A-78BA1B48CF28}"/>
              </a:ext>
            </a:extLst>
          </p:cNvPr>
          <p:cNvSpPr txBox="1"/>
          <p:nvPr/>
        </p:nvSpPr>
        <p:spPr>
          <a:xfrm>
            <a:off x="2839155" y="6586881"/>
            <a:ext cx="6513689" cy="338554"/>
          </a:xfrm>
          <a:prstGeom prst="rect">
            <a:avLst/>
          </a:prstGeom>
          <a:noFill/>
        </p:spPr>
        <p:txBody>
          <a:bodyPr wrap="square" rtlCol="0">
            <a:spAutoFit/>
          </a:bodyPr>
          <a:lstStyle/>
          <a:p>
            <a:pPr algn="ctr"/>
            <a:r>
              <a:rPr lang="en-US" sz="1600" dirty="0"/>
              <a:t>Source: Financial Times | 21/9/2025</a:t>
            </a:r>
            <a:endParaRPr lang="nl-BE" sz="1600" dirty="0"/>
          </a:p>
        </p:txBody>
      </p:sp>
    </p:spTree>
    <p:extLst>
      <p:ext uri="{BB962C8B-B14F-4D97-AF65-F5344CB8AC3E}">
        <p14:creationId xmlns:p14="http://schemas.microsoft.com/office/powerpoint/2010/main" val="231035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2374A-C2A9-D220-4DC8-DB231F4B0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62B30-CF5A-051D-3ABD-94E37E836842}"/>
              </a:ext>
            </a:extLst>
          </p:cNvPr>
          <p:cNvSpPr>
            <a:spLocks noGrp="1"/>
          </p:cNvSpPr>
          <p:nvPr>
            <p:ph type="title"/>
          </p:nvPr>
        </p:nvSpPr>
        <p:spPr/>
        <p:txBody>
          <a:bodyPr/>
          <a:lstStyle/>
          <a:p>
            <a:r>
              <a:rPr lang="en-US" dirty="0"/>
              <a:t>MPD in the News: Brussels’ blow to Big Tech</a:t>
            </a:r>
            <a:endParaRPr lang="nl-BE" dirty="0"/>
          </a:p>
        </p:txBody>
      </p:sp>
      <p:pic>
        <p:nvPicPr>
          <p:cNvPr id="9" name="Picture 8">
            <a:extLst>
              <a:ext uri="{FF2B5EF4-FFF2-40B4-BE49-F238E27FC236}">
                <a16:creationId xmlns:a16="http://schemas.microsoft.com/office/drawing/2014/main" id="{C1F5313E-479C-24EF-CFC1-721846632F36}"/>
              </a:ext>
            </a:extLst>
          </p:cNvPr>
          <p:cNvPicPr>
            <a:picLocks noChangeAspect="1"/>
          </p:cNvPicPr>
          <p:nvPr/>
        </p:nvPicPr>
        <p:blipFill>
          <a:blip r:embed="rId3"/>
          <a:stretch>
            <a:fillRect/>
          </a:stretch>
        </p:blipFill>
        <p:spPr>
          <a:xfrm>
            <a:off x="838198" y="1950521"/>
            <a:ext cx="5348111" cy="3499381"/>
          </a:xfrm>
          <a:prstGeom prst="rect">
            <a:avLst/>
          </a:prstGeom>
          <a:ln>
            <a:solidFill>
              <a:srgbClr val="C00000"/>
            </a:solidFill>
          </a:ln>
        </p:spPr>
      </p:pic>
      <p:sp>
        <p:nvSpPr>
          <p:cNvPr id="12" name="Rectangle: Rounded Corners 11">
            <a:extLst>
              <a:ext uri="{FF2B5EF4-FFF2-40B4-BE49-F238E27FC236}">
                <a16:creationId xmlns:a16="http://schemas.microsoft.com/office/drawing/2014/main" id="{E335448B-ABFD-F220-D610-A93AE1DC16CD}"/>
              </a:ext>
            </a:extLst>
          </p:cNvPr>
          <p:cNvSpPr/>
          <p:nvPr/>
        </p:nvSpPr>
        <p:spPr>
          <a:xfrm>
            <a:off x="838199" y="2895588"/>
            <a:ext cx="5348111" cy="533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TextBox 2">
            <a:extLst>
              <a:ext uri="{FF2B5EF4-FFF2-40B4-BE49-F238E27FC236}">
                <a16:creationId xmlns:a16="http://schemas.microsoft.com/office/drawing/2014/main" id="{F908C0F5-6E2D-CBD9-AA3A-E4EF89850263}"/>
              </a:ext>
            </a:extLst>
          </p:cNvPr>
          <p:cNvSpPr txBox="1"/>
          <p:nvPr/>
        </p:nvSpPr>
        <p:spPr>
          <a:xfrm>
            <a:off x="2839155" y="6586881"/>
            <a:ext cx="6513689" cy="338554"/>
          </a:xfrm>
          <a:prstGeom prst="rect">
            <a:avLst/>
          </a:prstGeom>
          <a:noFill/>
        </p:spPr>
        <p:txBody>
          <a:bodyPr wrap="square" rtlCol="0">
            <a:spAutoFit/>
          </a:bodyPr>
          <a:lstStyle/>
          <a:p>
            <a:pPr algn="ctr"/>
            <a:r>
              <a:rPr lang="en-US" sz="1600" dirty="0"/>
              <a:t>Source: Financial Times | 21/9/2025</a:t>
            </a:r>
            <a:endParaRPr lang="nl-BE" sz="1600" dirty="0"/>
          </a:p>
        </p:txBody>
      </p:sp>
      <p:sp>
        <p:nvSpPr>
          <p:cNvPr id="4" name="Rectangle: Rounded Corners 3">
            <a:extLst>
              <a:ext uri="{FF2B5EF4-FFF2-40B4-BE49-F238E27FC236}">
                <a16:creationId xmlns:a16="http://schemas.microsoft.com/office/drawing/2014/main" id="{5FA28C71-91CE-5805-F764-0A2DA07828CF}"/>
              </a:ext>
            </a:extLst>
          </p:cNvPr>
          <p:cNvSpPr/>
          <p:nvPr/>
        </p:nvSpPr>
        <p:spPr>
          <a:xfrm>
            <a:off x="838197" y="4429900"/>
            <a:ext cx="5348111" cy="10200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 name="Oval 5">
            <a:extLst>
              <a:ext uri="{FF2B5EF4-FFF2-40B4-BE49-F238E27FC236}">
                <a16:creationId xmlns:a16="http://schemas.microsoft.com/office/drawing/2014/main" id="{D24143C1-0AB9-45FA-F61F-ABA453B6FB3C}"/>
              </a:ext>
            </a:extLst>
          </p:cNvPr>
          <p:cNvSpPr/>
          <p:nvPr/>
        </p:nvSpPr>
        <p:spPr>
          <a:xfrm>
            <a:off x="7359181" y="3754538"/>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APPLE</a:t>
            </a:r>
            <a:endParaRPr lang="nl-BE" dirty="0"/>
          </a:p>
        </p:txBody>
      </p:sp>
      <p:sp>
        <p:nvSpPr>
          <p:cNvPr id="8" name="Oval 7">
            <a:extLst>
              <a:ext uri="{FF2B5EF4-FFF2-40B4-BE49-F238E27FC236}">
                <a16:creationId xmlns:a16="http://schemas.microsoft.com/office/drawing/2014/main" id="{D35FDB2D-A366-DF68-0A77-0C3842436E99}"/>
              </a:ext>
            </a:extLst>
          </p:cNvPr>
          <p:cNvSpPr/>
          <p:nvPr/>
        </p:nvSpPr>
        <p:spPr>
          <a:xfrm>
            <a:off x="9629897" y="4278494"/>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GOOGLE</a:t>
            </a:r>
            <a:endParaRPr lang="nl-BE" dirty="0"/>
          </a:p>
        </p:txBody>
      </p:sp>
      <p:sp>
        <p:nvSpPr>
          <p:cNvPr id="10" name="Oval 9">
            <a:extLst>
              <a:ext uri="{FF2B5EF4-FFF2-40B4-BE49-F238E27FC236}">
                <a16:creationId xmlns:a16="http://schemas.microsoft.com/office/drawing/2014/main" id="{6DC38B72-AF80-DA60-F2FA-076CD47DC35A}"/>
              </a:ext>
            </a:extLst>
          </p:cNvPr>
          <p:cNvSpPr/>
          <p:nvPr/>
        </p:nvSpPr>
        <p:spPr>
          <a:xfrm>
            <a:off x="6277664" y="2562977"/>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a:t>
            </a:r>
            <a:endParaRPr lang="nl-BE" dirty="0"/>
          </a:p>
        </p:txBody>
      </p:sp>
      <p:sp>
        <p:nvSpPr>
          <p:cNvPr id="14" name="Oval 13">
            <a:extLst>
              <a:ext uri="{FF2B5EF4-FFF2-40B4-BE49-F238E27FC236}">
                <a16:creationId xmlns:a16="http://schemas.microsoft.com/office/drawing/2014/main" id="{8D7F780B-C8E5-86B1-74CB-604A678F29D8}"/>
              </a:ext>
            </a:extLst>
          </p:cNvPr>
          <p:cNvSpPr/>
          <p:nvPr/>
        </p:nvSpPr>
        <p:spPr>
          <a:xfrm>
            <a:off x="7766514" y="5135531"/>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AMAZON</a:t>
            </a:r>
            <a:endParaRPr lang="nl-BE" dirty="0"/>
          </a:p>
        </p:txBody>
      </p:sp>
      <p:sp>
        <p:nvSpPr>
          <p:cNvPr id="17" name="Rectangle 16">
            <a:extLst>
              <a:ext uri="{FF2B5EF4-FFF2-40B4-BE49-F238E27FC236}">
                <a16:creationId xmlns:a16="http://schemas.microsoft.com/office/drawing/2014/main" id="{AE2CBC4B-42FC-1381-A740-E130CF6CC191}"/>
              </a:ext>
            </a:extLst>
          </p:cNvPr>
          <p:cNvSpPr/>
          <p:nvPr/>
        </p:nvSpPr>
        <p:spPr>
          <a:xfrm rot="1529391">
            <a:off x="7671042" y="2452596"/>
            <a:ext cx="4358654" cy="917420"/>
          </a:xfrm>
          <a:prstGeom prst="rect">
            <a:avLst/>
          </a:prstGeom>
          <a:noFill/>
        </p:spPr>
        <p:txBody>
          <a:bodyPr wrap="none" lIns="91440" tIns="45720" rIns="91440" bIns="45720">
            <a:prstTxWarp prst="textArchDown">
              <a:avLst/>
            </a:prstTxWarp>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EU banking Sector lobby</a:t>
            </a:r>
          </a:p>
        </p:txBody>
      </p:sp>
      <p:sp>
        <p:nvSpPr>
          <p:cNvPr id="7" name="Rectangle: Rounded Corners 6">
            <a:extLst>
              <a:ext uri="{FF2B5EF4-FFF2-40B4-BE49-F238E27FC236}">
                <a16:creationId xmlns:a16="http://schemas.microsoft.com/office/drawing/2014/main" id="{3B2CB08E-17EC-91EB-A8E2-25BB981665E7}"/>
              </a:ext>
            </a:extLst>
          </p:cNvPr>
          <p:cNvSpPr/>
          <p:nvPr/>
        </p:nvSpPr>
        <p:spPr>
          <a:xfrm>
            <a:off x="9253826" y="1797113"/>
            <a:ext cx="1913467" cy="10168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Financial Data EU Citizens</a:t>
            </a:r>
            <a:endParaRPr lang="nl-BE" dirty="0"/>
          </a:p>
        </p:txBody>
      </p:sp>
      <p:sp>
        <p:nvSpPr>
          <p:cNvPr id="11" name="Rectangle: Rounded Corners 10">
            <a:extLst>
              <a:ext uri="{FF2B5EF4-FFF2-40B4-BE49-F238E27FC236}">
                <a16:creationId xmlns:a16="http://schemas.microsoft.com/office/drawing/2014/main" id="{9D56F270-61B3-13A9-2BE4-079F061923C3}"/>
              </a:ext>
            </a:extLst>
          </p:cNvPr>
          <p:cNvSpPr/>
          <p:nvPr/>
        </p:nvSpPr>
        <p:spPr>
          <a:xfrm>
            <a:off x="9253825" y="1779233"/>
            <a:ext cx="1913467" cy="10168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POWER</a:t>
            </a:r>
            <a:endParaRPr lang="nl-BE" dirty="0"/>
          </a:p>
        </p:txBody>
      </p:sp>
    </p:spTree>
    <p:extLst>
      <p:ext uri="{BB962C8B-B14F-4D97-AF65-F5344CB8AC3E}">
        <p14:creationId xmlns:p14="http://schemas.microsoft.com/office/powerpoint/2010/main" val="15363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4" grpId="0" animBg="1"/>
      <p:bldP spid="17" grpId="0"/>
      <p:bldP spid="7"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8ED5-D2B6-E0E5-BBCA-E82A418F3E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B0C3FC-E1D7-7049-36FC-B5D72279CDF0}"/>
              </a:ext>
            </a:extLst>
          </p:cNvPr>
          <p:cNvPicPr>
            <a:picLocks noChangeAspect="1"/>
          </p:cNvPicPr>
          <p:nvPr/>
        </p:nvPicPr>
        <p:blipFill>
          <a:blip r:embed="rId3"/>
          <a:stretch>
            <a:fillRect/>
          </a:stretch>
        </p:blipFill>
        <p:spPr>
          <a:xfrm>
            <a:off x="838196" y="2031944"/>
            <a:ext cx="5348111" cy="3191235"/>
          </a:xfrm>
          <a:prstGeom prst="rect">
            <a:avLst/>
          </a:prstGeom>
          <a:ln>
            <a:solidFill>
              <a:srgbClr val="C00000"/>
            </a:solidFill>
          </a:ln>
        </p:spPr>
      </p:pic>
      <p:sp>
        <p:nvSpPr>
          <p:cNvPr id="2" name="Title 1">
            <a:extLst>
              <a:ext uri="{FF2B5EF4-FFF2-40B4-BE49-F238E27FC236}">
                <a16:creationId xmlns:a16="http://schemas.microsoft.com/office/drawing/2014/main" id="{6CA86F68-2081-7F5F-6782-61CFCD805998}"/>
              </a:ext>
            </a:extLst>
          </p:cNvPr>
          <p:cNvSpPr>
            <a:spLocks noGrp="1"/>
          </p:cNvSpPr>
          <p:nvPr>
            <p:ph type="title"/>
          </p:nvPr>
        </p:nvSpPr>
        <p:spPr/>
        <p:txBody>
          <a:bodyPr/>
          <a:lstStyle/>
          <a:p>
            <a:r>
              <a:rPr lang="en-US" dirty="0"/>
              <a:t>MPD in the News: Brussels’ blow to Big Tech</a:t>
            </a:r>
            <a:endParaRPr lang="nl-BE" dirty="0"/>
          </a:p>
        </p:txBody>
      </p:sp>
      <p:sp>
        <p:nvSpPr>
          <p:cNvPr id="12" name="Rectangle: Rounded Corners 11">
            <a:extLst>
              <a:ext uri="{FF2B5EF4-FFF2-40B4-BE49-F238E27FC236}">
                <a16:creationId xmlns:a16="http://schemas.microsoft.com/office/drawing/2014/main" id="{9A78A7B5-EE8D-FD1E-9CDC-82D59752B664}"/>
              </a:ext>
            </a:extLst>
          </p:cNvPr>
          <p:cNvSpPr/>
          <p:nvPr/>
        </p:nvSpPr>
        <p:spPr>
          <a:xfrm>
            <a:off x="838195" y="2026743"/>
            <a:ext cx="5348111" cy="533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TextBox 2">
            <a:extLst>
              <a:ext uri="{FF2B5EF4-FFF2-40B4-BE49-F238E27FC236}">
                <a16:creationId xmlns:a16="http://schemas.microsoft.com/office/drawing/2014/main" id="{F5B65DFB-29A3-9A14-F1DF-190D317B113C}"/>
              </a:ext>
            </a:extLst>
          </p:cNvPr>
          <p:cNvSpPr txBox="1"/>
          <p:nvPr/>
        </p:nvSpPr>
        <p:spPr>
          <a:xfrm>
            <a:off x="2839155" y="6586881"/>
            <a:ext cx="6513689" cy="338554"/>
          </a:xfrm>
          <a:prstGeom prst="rect">
            <a:avLst/>
          </a:prstGeom>
          <a:noFill/>
        </p:spPr>
        <p:txBody>
          <a:bodyPr wrap="square" rtlCol="0">
            <a:spAutoFit/>
          </a:bodyPr>
          <a:lstStyle/>
          <a:p>
            <a:pPr algn="ctr"/>
            <a:r>
              <a:rPr lang="en-US" sz="1600" dirty="0"/>
              <a:t>Source: Financial Times | 21/9/2025</a:t>
            </a:r>
            <a:endParaRPr lang="nl-BE" sz="1600" dirty="0"/>
          </a:p>
        </p:txBody>
      </p:sp>
      <p:sp>
        <p:nvSpPr>
          <p:cNvPr id="6" name="Oval 5">
            <a:extLst>
              <a:ext uri="{FF2B5EF4-FFF2-40B4-BE49-F238E27FC236}">
                <a16:creationId xmlns:a16="http://schemas.microsoft.com/office/drawing/2014/main" id="{3284951F-1E5F-8E82-2D36-C926B2475F1B}"/>
              </a:ext>
            </a:extLst>
          </p:cNvPr>
          <p:cNvSpPr/>
          <p:nvPr/>
        </p:nvSpPr>
        <p:spPr>
          <a:xfrm>
            <a:off x="7359181" y="3754538"/>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APPLE</a:t>
            </a:r>
            <a:endParaRPr lang="nl-BE" dirty="0"/>
          </a:p>
        </p:txBody>
      </p:sp>
      <p:sp>
        <p:nvSpPr>
          <p:cNvPr id="8" name="Oval 7">
            <a:extLst>
              <a:ext uri="{FF2B5EF4-FFF2-40B4-BE49-F238E27FC236}">
                <a16:creationId xmlns:a16="http://schemas.microsoft.com/office/drawing/2014/main" id="{D4B2BDEA-DEEC-29A6-BF5C-E097C9B9A46C}"/>
              </a:ext>
            </a:extLst>
          </p:cNvPr>
          <p:cNvSpPr/>
          <p:nvPr/>
        </p:nvSpPr>
        <p:spPr>
          <a:xfrm>
            <a:off x="9629897" y="4278494"/>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GOOGLE</a:t>
            </a:r>
            <a:endParaRPr lang="nl-BE" dirty="0"/>
          </a:p>
        </p:txBody>
      </p:sp>
      <p:sp>
        <p:nvSpPr>
          <p:cNvPr id="10" name="Oval 9">
            <a:extLst>
              <a:ext uri="{FF2B5EF4-FFF2-40B4-BE49-F238E27FC236}">
                <a16:creationId xmlns:a16="http://schemas.microsoft.com/office/drawing/2014/main" id="{4BEFE722-24BF-5C15-A6EC-391CB9FE0B9B}"/>
              </a:ext>
            </a:extLst>
          </p:cNvPr>
          <p:cNvSpPr/>
          <p:nvPr/>
        </p:nvSpPr>
        <p:spPr>
          <a:xfrm>
            <a:off x="6277664" y="2562977"/>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a:t>
            </a:r>
            <a:endParaRPr lang="nl-BE" dirty="0"/>
          </a:p>
        </p:txBody>
      </p:sp>
      <p:sp>
        <p:nvSpPr>
          <p:cNvPr id="14" name="Oval 13">
            <a:extLst>
              <a:ext uri="{FF2B5EF4-FFF2-40B4-BE49-F238E27FC236}">
                <a16:creationId xmlns:a16="http://schemas.microsoft.com/office/drawing/2014/main" id="{6B79F9D2-8BF9-88DC-8A70-3D752F864A46}"/>
              </a:ext>
            </a:extLst>
          </p:cNvPr>
          <p:cNvSpPr/>
          <p:nvPr/>
        </p:nvSpPr>
        <p:spPr>
          <a:xfrm>
            <a:off x="7766514" y="5135531"/>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AMAZON</a:t>
            </a:r>
            <a:endParaRPr lang="nl-BE" dirty="0"/>
          </a:p>
        </p:txBody>
      </p:sp>
      <p:sp>
        <p:nvSpPr>
          <p:cNvPr id="17" name="Rectangle 16">
            <a:extLst>
              <a:ext uri="{FF2B5EF4-FFF2-40B4-BE49-F238E27FC236}">
                <a16:creationId xmlns:a16="http://schemas.microsoft.com/office/drawing/2014/main" id="{2780E5E2-10DB-C015-850C-9AF78400C492}"/>
              </a:ext>
            </a:extLst>
          </p:cNvPr>
          <p:cNvSpPr/>
          <p:nvPr/>
        </p:nvSpPr>
        <p:spPr>
          <a:xfrm rot="1529391">
            <a:off x="7671042" y="2452596"/>
            <a:ext cx="4358654" cy="917420"/>
          </a:xfrm>
          <a:prstGeom prst="rect">
            <a:avLst/>
          </a:prstGeom>
          <a:noFill/>
        </p:spPr>
        <p:txBody>
          <a:bodyPr wrap="none" lIns="91440" tIns="45720" rIns="91440" bIns="45720">
            <a:prstTxWarp prst="textArchDown">
              <a:avLst/>
            </a:prstTxWarp>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EU banking Sector lobby</a:t>
            </a:r>
          </a:p>
        </p:txBody>
      </p:sp>
      <p:sp>
        <p:nvSpPr>
          <p:cNvPr id="11" name="Rectangle: Rounded Corners 10">
            <a:extLst>
              <a:ext uri="{FF2B5EF4-FFF2-40B4-BE49-F238E27FC236}">
                <a16:creationId xmlns:a16="http://schemas.microsoft.com/office/drawing/2014/main" id="{3BB7B283-3A41-22E3-BC5E-C85D2A9A5A89}"/>
              </a:ext>
            </a:extLst>
          </p:cNvPr>
          <p:cNvSpPr/>
          <p:nvPr/>
        </p:nvSpPr>
        <p:spPr>
          <a:xfrm>
            <a:off x="9253825" y="1779233"/>
            <a:ext cx="1913467" cy="10168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POWER</a:t>
            </a:r>
            <a:endParaRPr lang="nl-BE" dirty="0"/>
          </a:p>
        </p:txBody>
      </p:sp>
      <p:sp>
        <p:nvSpPr>
          <p:cNvPr id="13" name="Rectangle: Rounded Corners 12">
            <a:extLst>
              <a:ext uri="{FF2B5EF4-FFF2-40B4-BE49-F238E27FC236}">
                <a16:creationId xmlns:a16="http://schemas.microsoft.com/office/drawing/2014/main" id="{F9B56FC6-BD74-4326-952A-806B2EB76D74}"/>
              </a:ext>
            </a:extLst>
          </p:cNvPr>
          <p:cNvSpPr/>
          <p:nvPr/>
        </p:nvSpPr>
        <p:spPr>
          <a:xfrm>
            <a:off x="838195" y="4982204"/>
            <a:ext cx="4060885" cy="2409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noFill/>
            </a:endParaRPr>
          </a:p>
        </p:txBody>
      </p:sp>
    </p:spTree>
    <p:extLst>
      <p:ext uri="{BB962C8B-B14F-4D97-AF65-F5344CB8AC3E}">
        <p14:creationId xmlns:p14="http://schemas.microsoft.com/office/powerpoint/2010/main" val="4206440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68E9-8494-2C69-77ED-DFC70F8B4B1A}"/>
              </a:ext>
            </a:extLst>
          </p:cNvPr>
          <p:cNvSpPr>
            <a:spLocks noGrp="1"/>
          </p:cNvSpPr>
          <p:nvPr>
            <p:ph type="ctrTitle"/>
          </p:nvPr>
        </p:nvSpPr>
        <p:spPr/>
        <p:txBody>
          <a:bodyPr/>
          <a:lstStyle/>
          <a:p>
            <a:r>
              <a:rPr lang="fr-BE" dirty="0"/>
              <a:t>POL1050: Money, Power and </a:t>
            </a:r>
            <a:r>
              <a:rPr lang="fr-BE" dirty="0" err="1"/>
              <a:t>Democracy</a:t>
            </a:r>
            <a:endParaRPr lang="nl-BE" dirty="0"/>
          </a:p>
        </p:txBody>
      </p:sp>
      <p:sp>
        <p:nvSpPr>
          <p:cNvPr id="3" name="Subtitle 2">
            <a:extLst>
              <a:ext uri="{FF2B5EF4-FFF2-40B4-BE49-F238E27FC236}">
                <a16:creationId xmlns:a16="http://schemas.microsoft.com/office/drawing/2014/main" id="{7966D10D-86E1-1E45-F495-FB031257B6F7}"/>
              </a:ext>
            </a:extLst>
          </p:cNvPr>
          <p:cNvSpPr>
            <a:spLocks noGrp="1"/>
          </p:cNvSpPr>
          <p:nvPr>
            <p:ph type="subTitle" idx="1"/>
          </p:nvPr>
        </p:nvSpPr>
        <p:spPr/>
        <p:txBody>
          <a:bodyPr/>
          <a:lstStyle/>
          <a:p>
            <a:r>
              <a:rPr lang="fr-BE" dirty="0"/>
              <a:t>Class 5: Lobbying Inside Out – 22/9/2025</a:t>
            </a:r>
            <a:endParaRPr lang="nl-BE" dirty="0"/>
          </a:p>
        </p:txBody>
      </p:sp>
    </p:spTree>
    <p:extLst>
      <p:ext uri="{BB962C8B-B14F-4D97-AF65-F5344CB8AC3E}">
        <p14:creationId xmlns:p14="http://schemas.microsoft.com/office/powerpoint/2010/main" val="4290994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ED90-1FEA-65D7-EECC-A15B74A71772}"/>
              </a:ext>
            </a:extLst>
          </p:cNvPr>
          <p:cNvSpPr>
            <a:spLocks noGrp="1"/>
          </p:cNvSpPr>
          <p:nvPr>
            <p:ph type="title"/>
          </p:nvPr>
        </p:nvSpPr>
        <p:spPr/>
        <p:txBody>
          <a:bodyPr/>
          <a:lstStyle/>
          <a:p>
            <a:r>
              <a:rPr lang="en-US" dirty="0"/>
              <a:t>Schedule</a:t>
            </a:r>
            <a:endParaRPr lang="nl-BE" dirty="0"/>
          </a:p>
        </p:txBody>
      </p:sp>
      <p:sp>
        <p:nvSpPr>
          <p:cNvPr id="3" name="Content Placeholder 2">
            <a:extLst>
              <a:ext uri="{FF2B5EF4-FFF2-40B4-BE49-F238E27FC236}">
                <a16:creationId xmlns:a16="http://schemas.microsoft.com/office/drawing/2014/main" id="{043A4CB0-0148-D7E3-E757-EFC221FB92C7}"/>
              </a:ext>
            </a:extLst>
          </p:cNvPr>
          <p:cNvSpPr>
            <a:spLocks noGrp="1"/>
          </p:cNvSpPr>
          <p:nvPr>
            <p:ph idx="1"/>
          </p:nvPr>
        </p:nvSpPr>
        <p:spPr/>
        <p:txBody>
          <a:bodyPr>
            <a:normAutofit/>
          </a:bodyPr>
          <a:lstStyle/>
          <a:p>
            <a:pPr marL="0" indent="0">
              <a:buNone/>
            </a:pPr>
            <a:r>
              <a:rPr lang="fr-BE" b="1" dirty="0"/>
              <a:t>This </a:t>
            </a:r>
            <a:r>
              <a:rPr lang="fr-BE" b="1" dirty="0" err="1"/>
              <a:t>week</a:t>
            </a:r>
            <a:r>
              <a:rPr lang="fr-BE" b="1" dirty="0"/>
              <a:t>: Lobbying</a:t>
            </a:r>
          </a:p>
          <a:p>
            <a:r>
              <a:rPr lang="fr-BE" dirty="0" err="1"/>
              <a:t>Today</a:t>
            </a:r>
            <a:r>
              <a:rPr lang="fr-BE" dirty="0"/>
              <a:t>: </a:t>
            </a:r>
            <a:r>
              <a:rPr lang="fr-BE" i="1" dirty="0"/>
              <a:t>Lobbying Inside Out</a:t>
            </a:r>
          </a:p>
          <a:p>
            <a:pPr lvl="1"/>
            <a:r>
              <a:rPr lang="fr-BE" dirty="0" err="1"/>
              <a:t>What</a:t>
            </a:r>
            <a:r>
              <a:rPr lang="fr-BE" dirty="0"/>
              <a:t> </a:t>
            </a:r>
            <a:r>
              <a:rPr lang="fr-BE" dirty="0" err="1"/>
              <a:t>is</a:t>
            </a:r>
            <a:r>
              <a:rPr lang="fr-BE" dirty="0"/>
              <a:t> </a:t>
            </a:r>
            <a:r>
              <a:rPr lang="fr-BE" dirty="0" err="1"/>
              <a:t>it</a:t>
            </a:r>
            <a:endParaRPr lang="fr-BE" dirty="0"/>
          </a:p>
          <a:p>
            <a:pPr lvl="1"/>
            <a:r>
              <a:rPr lang="fr-BE" dirty="0" err="1"/>
              <a:t>Who</a:t>
            </a:r>
            <a:r>
              <a:rPr lang="fr-BE" dirty="0"/>
              <a:t> </a:t>
            </a:r>
            <a:r>
              <a:rPr lang="fr-BE" dirty="0" err="1"/>
              <a:t>does</a:t>
            </a:r>
            <a:r>
              <a:rPr lang="fr-BE" dirty="0"/>
              <a:t> </a:t>
            </a:r>
            <a:r>
              <a:rPr lang="fr-BE" dirty="0" err="1"/>
              <a:t>it</a:t>
            </a:r>
            <a:r>
              <a:rPr lang="fr-BE" dirty="0"/>
              <a:t>?</a:t>
            </a:r>
          </a:p>
          <a:p>
            <a:pPr lvl="1"/>
            <a:r>
              <a:rPr lang="fr-BE" dirty="0"/>
              <a:t>How do </a:t>
            </a:r>
            <a:r>
              <a:rPr lang="fr-BE" dirty="0" err="1"/>
              <a:t>you</a:t>
            </a:r>
            <a:r>
              <a:rPr lang="fr-BE" dirty="0"/>
              <a:t> do </a:t>
            </a:r>
            <a:r>
              <a:rPr lang="fr-BE" dirty="0" err="1"/>
              <a:t>it</a:t>
            </a:r>
            <a:r>
              <a:rPr lang="fr-BE" dirty="0"/>
              <a:t>?</a:t>
            </a:r>
          </a:p>
          <a:p>
            <a:pPr lvl="1"/>
            <a:endParaRPr lang="fr-BE" dirty="0"/>
          </a:p>
          <a:p>
            <a:r>
              <a:rPr lang="fr-BE" dirty="0" err="1"/>
              <a:t>Wednesday</a:t>
            </a:r>
            <a:r>
              <a:rPr lang="fr-BE" dirty="0"/>
              <a:t>:  </a:t>
            </a:r>
            <a:r>
              <a:rPr lang="fr-BE" i="1" dirty="0"/>
              <a:t>Lobbying &amp; MPD</a:t>
            </a:r>
            <a:endParaRPr lang="nl-BE" i="1" dirty="0"/>
          </a:p>
        </p:txBody>
      </p:sp>
    </p:spTree>
    <p:extLst>
      <p:ext uri="{BB962C8B-B14F-4D97-AF65-F5344CB8AC3E}">
        <p14:creationId xmlns:p14="http://schemas.microsoft.com/office/powerpoint/2010/main" val="1347736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AAC3-FF9A-D009-EC39-5C9E73CED3CA}"/>
              </a:ext>
            </a:extLst>
          </p:cNvPr>
          <p:cNvSpPr>
            <a:spLocks noGrp="1"/>
          </p:cNvSpPr>
          <p:nvPr>
            <p:ph type="title"/>
          </p:nvPr>
        </p:nvSpPr>
        <p:spPr/>
        <p:txBody>
          <a:bodyPr/>
          <a:lstStyle/>
          <a:p>
            <a:r>
              <a:rPr lang="en-US" dirty="0"/>
              <a:t>What is lobbying?</a:t>
            </a:r>
            <a:endParaRPr lang="nl-BE" dirty="0"/>
          </a:p>
        </p:txBody>
      </p:sp>
      <p:sp>
        <p:nvSpPr>
          <p:cNvPr id="3" name="Content Placeholder 2">
            <a:extLst>
              <a:ext uri="{FF2B5EF4-FFF2-40B4-BE49-F238E27FC236}">
                <a16:creationId xmlns:a16="http://schemas.microsoft.com/office/drawing/2014/main" id="{B8469508-77B1-B26F-E78A-8FABFACBECAF}"/>
              </a:ext>
            </a:extLst>
          </p:cNvPr>
          <p:cNvSpPr>
            <a:spLocks noGrp="1"/>
          </p:cNvSpPr>
          <p:nvPr>
            <p:ph idx="1"/>
          </p:nvPr>
        </p:nvSpPr>
        <p:spPr>
          <a:xfrm>
            <a:off x="838200" y="1893358"/>
            <a:ext cx="10515600" cy="4351338"/>
          </a:xfrm>
        </p:spPr>
        <p:txBody>
          <a:bodyPr/>
          <a:lstStyle/>
          <a:p>
            <a:pPr marL="0" indent="0">
              <a:buNone/>
            </a:pPr>
            <a:r>
              <a:rPr lang="en-US" dirty="0"/>
              <a:t>~ Advocacy, Public Affairs, Interest Representation, …</a:t>
            </a:r>
            <a:endParaRPr lang="nl-BE" dirty="0"/>
          </a:p>
        </p:txBody>
      </p:sp>
      <p:sp>
        <p:nvSpPr>
          <p:cNvPr id="4" name="Rectangle: Rounded Corners 3">
            <a:extLst>
              <a:ext uri="{FF2B5EF4-FFF2-40B4-BE49-F238E27FC236}">
                <a16:creationId xmlns:a16="http://schemas.microsoft.com/office/drawing/2014/main" id="{8B02D8D1-FC19-7E7E-DFF5-FD69E2AB38BF}"/>
              </a:ext>
            </a:extLst>
          </p:cNvPr>
          <p:cNvSpPr/>
          <p:nvPr/>
        </p:nvSpPr>
        <p:spPr>
          <a:xfrm>
            <a:off x="1817511" y="3050822"/>
            <a:ext cx="3183467" cy="1320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ACTORS</a:t>
            </a:r>
            <a:r>
              <a:rPr lang="en-US" dirty="0"/>
              <a:t> WITH</a:t>
            </a:r>
          </a:p>
          <a:p>
            <a:pPr algn="ctr"/>
            <a:r>
              <a:rPr lang="en-US" dirty="0"/>
              <a:t>POLICY </a:t>
            </a:r>
            <a:r>
              <a:rPr lang="en-US" b="1" dirty="0"/>
              <a:t>INTEREST</a:t>
            </a:r>
            <a:endParaRPr lang="nl-BE" b="1" dirty="0"/>
          </a:p>
        </p:txBody>
      </p:sp>
      <p:sp>
        <p:nvSpPr>
          <p:cNvPr id="5" name="Arrow: Right 4">
            <a:extLst>
              <a:ext uri="{FF2B5EF4-FFF2-40B4-BE49-F238E27FC236}">
                <a16:creationId xmlns:a16="http://schemas.microsoft.com/office/drawing/2014/main" id="{C2E0E1AD-27A5-EEA8-CAE5-CC01EDC64FAE}"/>
              </a:ext>
            </a:extLst>
          </p:cNvPr>
          <p:cNvSpPr/>
          <p:nvPr/>
        </p:nvSpPr>
        <p:spPr>
          <a:xfrm>
            <a:off x="5000978" y="3129844"/>
            <a:ext cx="2190044" cy="1162756"/>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LOBBY</a:t>
            </a:r>
            <a:endParaRPr lang="nl-BE" b="1" dirty="0"/>
          </a:p>
        </p:txBody>
      </p:sp>
      <p:sp>
        <p:nvSpPr>
          <p:cNvPr id="6" name="Rectangle: Rounded Corners 5">
            <a:extLst>
              <a:ext uri="{FF2B5EF4-FFF2-40B4-BE49-F238E27FC236}">
                <a16:creationId xmlns:a16="http://schemas.microsoft.com/office/drawing/2014/main" id="{90A6B7E2-B098-745E-CBDB-F4C06E8BA06F}"/>
              </a:ext>
            </a:extLst>
          </p:cNvPr>
          <p:cNvSpPr/>
          <p:nvPr/>
        </p:nvSpPr>
        <p:spPr>
          <a:xfrm>
            <a:off x="7191022" y="3050822"/>
            <a:ext cx="3183467" cy="132080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AUTHORITIES</a:t>
            </a:r>
            <a:r>
              <a:rPr lang="en-US" dirty="0"/>
              <a:t> FOR</a:t>
            </a:r>
          </a:p>
          <a:p>
            <a:pPr algn="ctr"/>
            <a:r>
              <a:rPr lang="en-US" dirty="0"/>
              <a:t>POLICY </a:t>
            </a:r>
            <a:r>
              <a:rPr lang="en-US" b="1" dirty="0"/>
              <a:t>OUTCOME</a:t>
            </a:r>
            <a:endParaRPr lang="nl-BE" b="1" dirty="0"/>
          </a:p>
        </p:txBody>
      </p:sp>
      <p:sp>
        <p:nvSpPr>
          <p:cNvPr id="7" name="Right Brace 6">
            <a:extLst>
              <a:ext uri="{FF2B5EF4-FFF2-40B4-BE49-F238E27FC236}">
                <a16:creationId xmlns:a16="http://schemas.microsoft.com/office/drawing/2014/main" id="{90F1AE17-DD06-2283-C9F6-949381A6140A}"/>
              </a:ext>
            </a:extLst>
          </p:cNvPr>
          <p:cNvSpPr/>
          <p:nvPr/>
        </p:nvSpPr>
        <p:spPr>
          <a:xfrm rot="16200000">
            <a:off x="5842000" y="908755"/>
            <a:ext cx="508000" cy="743373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BE"/>
          </a:p>
        </p:txBody>
      </p:sp>
      <p:sp>
        <p:nvSpPr>
          <p:cNvPr id="8" name="TextBox 7">
            <a:extLst>
              <a:ext uri="{FF2B5EF4-FFF2-40B4-BE49-F238E27FC236}">
                <a16:creationId xmlns:a16="http://schemas.microsoft.com/office/drawing/2014/main" id="{5E613773-7CAD-0F9D-1BE3-620829545FA9}"/>
              </a:ext>
            </a:extLst>
          </p:cNvPr>
          <p:cNvSpPr txBox="1"/>
          <p:nvPr/>
        </p:nvSpPr>
        <p:spPr>
          <a:xfrm>
            <a:off x="2460978" y="4779324"/>
            <a:ext cx="7351889" cy="1569660"/>
          </a:xfrm>
          <a:prstGeom prst="rect">
            <a:avLst/>
          </a:prstGeom>
          <a:noFill/>
        </p:spPr>
        <p:txBody>
          <a:bodyPr wrap="square" rtlCol="0">
            <a:spAutoFit/>
          </a:bodyPr>
          <a:lstStyle/>
          <a:p>
            <a:pPr algn="ctr"/>
            <a:r>
              <a:rPr lang="en-US" sz="2400" b="1" dirty="0"/>
              <a:t>Activities</a:t>
            </a:r>
            <a:r>
              <a:rPr lang="en-US" sz="2400" dirty="0"/>
              <a:t> undertaken with the </a:t>
            </a:r>
            <a:r>
              <a:rPr lang="en-US" sz="2400" b="1" dirty="0"/>
              <a:t>purpose of influencing decisions &amp; policies </a:t>
            </a:r>
            <a:r>
              <a:rPr lang="en-US" sz="2400" dirty="0"/>
              <a:t>adopted by public </a:t>
            </a:r>
            <a:r>
              <a:rPr lang="en-US" sz="2400" b="1" dirty="0"/>
              <a:t>authorities</a:t>
            </a:r>
          </a:p>
          <a:p>
            <a:pPr algn="ctr"/>
            <a:endParaRPr lang="en-US" sz="2400" b="1" dirty="0"/>
          </a:p>
          <a:p>
            <a:pPr marL="342900" indent="-342900" algn="ctr">
              <a:buFont typeface="Symbol" panose="05050102010706020507" pitchFamily="18" charset="2"/>
              <a:buChar char="Þ"/>
            </a:pPr>
            <a:r>
              <a:rPr lang="en-US" sz="2400" b="1" dirty="0"/>
              <a:t>Indirect path to power</a:t>
            </a:r>
          </a:p>
        </p:txBody>
      </p:sp>
    </p:spTree>
    <p:extLst>
      <p:ext uri="{BB962C8B-B14F-4D97-AF65-F5344CB8AC3E}">
        <p14:creationId xmlns:p14="http://schemas.microsoft.com/office/powerpoint/2010/main" val="3240875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5E0CF-4A67-9617-804D-B81A9C64D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3FF11-ABB9-5C8A-9EFE-71B9FC79047B}"/>
              </a:ext>
            </a:extLst>
          </p:cNvPr>
          <p:cNvSpPr>
            <a:spLocks noGrp="1"/>
          </p:cNvSpPr>
          <p:nvPr>
            <p:ph type="title"/>
          </p:nvPr>
        </p:nvSpPr>
        <p:spPr/>
        <p:txBody>
          <a:bodyPr/>
          <a:lstStyle/>
          <a:p>
            <a:r>
              <a:rPr lang="en-US" dirty="0"/>
              <a:t>Example: Brussels’ blow to Big Tech</a:t>
            </a:r>
            <a:endParaRPr lang="nl-BE" dirty="0"/>
          </a:p>
        </p:txBody>
      </p:sp>
      <p:sp>
        <p:nvSpPr>
          <p:cNvPr id="6" name="Oval 5">
            <a:extLst>
              <a:ext uri="{FF2B5EF4-FFF2-40B4-BE49-F238E27FC236}">
                <a16:creationId xmlns:a16="http://schemas.microsoft.com/office/drawing/2014/main" id="{BFC7F151-3F3B-2F6D-6E69-50C742C4480E}"/>
              </a:ext>
            </a:extLst>
          </p:cNvPr>
          <p:cNvSpPr/>
          <p:nvPr/>
        </p:nvSpPr>
        <p:spPr>
          <a:xfrm>
            <a:off x="7359181" y="3754538"/>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APPLE</a:t>
            </a:r>
            <a:endParaRPr lang="nl-BE" dirty="0"/>
          </a:p>
        </p:txBody>
      </p:sp>
      <p:sp>
        <p:nvSpPr>
          <p:cNvPr id="8" name="Oval 7">
            <a:extLst>
              <a:ext uri="{FF2B5EF4-FFF2-40B4-BE49-F238E27FC236}">
                <a16:creationId xmlns:a16="http://schemas.microsoft.com/office/drawing/2014/main" id="{351AE7A7-F467-BE6A-5BAE-D5981812FD4A}"/>
              </a:ext>
            </a:extLst>
          </p:cNvPr>
          <p:cNvSpPr/>
          <p:nvPr/>
        </p:nvSpPr>
        <p:spPr>
          <a:xfrm>
            <a:off x="9629897" y="4278494"/>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GOOGLE</a:t>
            </a:r>
            <a:endParaRPr lang="nl-BE" dirty="0"/>
          </a:p>
        </p:txBody>
      </p:sp>
      <p:sp>
        <p:nvSpPr>
          <p:cNvPr id="10" name="Oval 9">
            <a:extLst>
              <a:ext uri="{FF2B5EF4-FFF2-40B4-BE49-F238E27FC236}">
                <a16:creationId xmlns:a16="http://schemas.microsoft.com/office/drawing/2014/main" id="{79BBC0D7-4AF0-A30E-6CC5-1329F2BEA34E}"/>
              </a:ext>
            </a:extLst>
          </p:cNvPr>
          <p:cNvSpPr/>
          <p:nvPr/>
        </p:nvSpPr>
        <p:spPr>
          <a:xfrm>
            <a:off x="6277664" y="2562977"/>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META</a:t>
            </a:r>
            <a:endParaRPr lang="nl-BE" dirty="0"/>
          </a:p>
        </p:txBody>
      </p:sp>
      <p:sp>
        <p:nvSpPr>
          <p:cNvPr id="14" name="Oval 13">
            <a:extLst>
              <a:ext uri="{FF2B5EF4-FFF2-40B4-BE49-F238E27FC236}">
                <a16:creationId xmlns:a16="http://schemas.microsoft.com/office/drawing/2014/main" id="{91320FA4-C427-6367-3D91-8D3DD8E44B85}"/>
              </a:ext>
            </a:extLst>
          </p:cNvPr>
          <p:cNvSpPr/>
          <p:nvPr/>
        </p:nvSpPr>
        <p:spPr>
          <a:xfrm>
            <a:off x="7766514" y="5135531"/>
            <a:ext cx="2195689" cy="12276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AMAZON</a:t>
            </a:r>
            <a:endParaRPr lang="nl-BE" dirty="0"/>
          </a:p>
        </p:txBody>
      </p:sp>
      <p:sp>
        <p:nvSpPr>
          <p:cNvPr id="17" name="Rectangle 16">
            <a:extLst>
              <a:ext uri="{FF2B5EF4-FFF2-40B4-BE49-F238E27FC236}">
                <a16:creationId xmlns:a16="http://schemas.microsoft.com/office/drawing/2014/main" id="{175245E1-BF04-E030-A64A-4AD03EBBB7BE}"/>
              </a:ext>
            </a:extLst>
          </p:cNvPr>
          <p:cNvSpPr/>
          <p:nvPr/>
        </p:nvSpPr>
        <p:spPr>
          <a:xfrm rot="1529391">
            <a:off x="7671042" y="2452596"/>
            <a:ext cx="4358654" cy="917420"/>
          </a:xfrm>
          <a:prstGeom prst="rect">
            <a:avLst/>
          </a:prstGeom>
          <a:noFill/>
        </p:spPr>
        <p:txBody>
          <a:bodyPr wrap="none" lIns="91440" tIns="45720" rIns="91440" bIns="45720">
            <a:prstTxWarp prst="textArchDown">
              <a:avLst/>
            </a:prstTxWarp>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EU banking Sector lobby</a:t>
            </a:r>
          </a:p>
        </p:txBody>
      </p:sp>
      <p:sp>
        <p:nvSpPr>
          <p:cNvPr id="7" name="Rectangle: Rounded Corners 6">
            <a:extLst>
              <a:ext uri="{FF2B5EF4-FFF2-40B4-BE49-F238E27FC236}">
                <a16:creationId xmlns:a16="http://schemas.microsoft.com/office/drawing/2014/main" id="{6DF3DC07-22AC-CFE5-F311-EE87F3AE8FD0}"/>
              </a:ext>
            </a:extLst>
          </p:cNvPr>
          <p:cNvSpPr/>
          <p:nvPr/>
        </p:nvSpPr>
        <p:spPr>
          <a:xfrm>
            <a:off x="9766919" y="1281270"/>
            <a:ext cx="1913467" cy="9416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Financial Data EU Citizens</a:t>
            </a:r>
            <a:endParaRPr lang="nl-BE" dirty="0"/>
          </a:p>
        </p:txBody>
      </p:sp>
      <p:pic>
        <p:nvPicPr>
          <p:cNvPr id="5" name="Picture 4">
            <a:extLst>
              <a:ext uri="{FF2B5EF4-FFF2-40B4-BE49-F238E27FC236}">
                <a16:creationId xmlns:a16="http://schemas.microsoft.com/office/drawing/2014/main" id="{8B954E4F-5A58-0B24-3ACD-B386EACB5C67}"/>
              </a:ext>
            </a:extLst>
          </p:cNvPr>
          <p:cNvPicPr>
            <a:picLocks noChangeAspect="1"/>
          </p:cNvPicPr>
          <p:nvPr/>
        </p:nvPicPr>
        <p:blipFill>
          <a:blip r:embed="rId3"/>
          <a:srcRect l="10322" r="33135"/>
          <a:stretch/>
        </p:blipFill>
        <p:spPr>
          <a:xfrm>
            <a:off x="838200" y="1544074"/>
            <a:ext cx="5130636" cy="4819123"/>
          </a:xfrm>
          <a:prstGeom prst="rect">
            <a:avLst/>
          </a:prstGeom>
          <a:ln>
            <a:solidFill>
              <a:srgbClr val="C00000"/>
            </a:solidFill>
          </a:ln>
        </p:spPr>
      </p:pic>
      <p:sp>
        <p:nvSpPr>
          <p:cNvPr id="13" name="Oval 12">
            <a:extLst>
              <a:ext uri="{FF2B5EF4-FFF2-40B4-BE49-F238E27FC236}">
                <a16:creationId xmlns:a16="http://schemas.microsoft.com/office/drawing/2014/main" id="{8C48250B-5719-074F-095E-CF719B4747AD}"/>
              </a:ext>
            </a:extLst>
          </p:cNvPr>
          <p:cNvSpPr/>
          <p:nvPr/>
        </p:nvSpPr>
        <p:spPr>
          <a:xfrm>
            <a:off x="5757333" y="2257777"/>
            <a:ext cx="6257638" cy="460022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TextBox 14">
            <a:extLst>
              <a:ext uri="{FF2B5EF4-FFF2-40B4-BE49-F238E27FC236}">
                <a16:creationId xmlns:a16="http://schemas.microsoft.com/office/drawing/2014/main" id="{49C0A651-9909-4F8B-DD82-96CD812A656A}"/>
              </a:ext>
            </a:extLst>
          </p:cNvPr>
          <p:cNvSpPr txBox="1"/>
          <p:nvPr/>
        </p:nvSpPr>
        <p:spPr>
          <a:xfrm>
            <a:off x="6096000" y="5238044"/>
            <a:ext cx="1106312" cy="369332"/>
          </a:xfrm>
          <a:prstGeom prst="rect">
            <a:avLst/>
          </a:prstGeom>
          <a:noFill/>
        </p:spPr>
        <p:txBody>
          <a:bodyPr wrap="square" rtlCol="0">
            <a:spAutoFit/>
          </a:bodyPr>
          <a:lstStyle/>
          <a:p>
            <a:r>
              <a:rPr lang="en-US" b="1" dirty="0">
                <a:solidFill>
                  <a:srgbClr val="FF0000"/>
                </a:solidFill>
              </a:rPr>
              <a:t>ACTORS</a:t>
            </a:r>
            <a:endParaRPr lang="nl-BE" b="1" dirty="0">
              <a:solidFill>
                <a:srgbClr val="FF0000"/>
              </a:solidFill>
            </a:endParaRPr>
          </a:p>
        </p:txBody>
      </p:sp>
      <p:sp>
        <p:nvSpPr>
          <p:cNvPr id="16" name="Oval 15">
            <a:extLst>
              <a:ext uri="{FF2B5EF4-FFF2-40B4-BE49-F238E27FC236}">
                <a16:creationId xmlns:a16="http://schemas.microsoft.com/office/drawing/2014/main" id="{B1DDD76E-92B6-6AA1-805E-29A9B84E3A58}"/>
              </a:ext>
            </a:extLst>
          </p:cNvPr>
          <p:cNvSpPr/>
          <p:nvPr/>
        </p:nvSpPr>
        <p:spPr>
          <a:xfrm>
            <a:off x="9566778" y="1103024"/>
            <a:ext cx="2448193" cy="139803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TextBox 17">
            <a:extLst>
              <a:ext uri="{FF2B5EF4-FFF2-40B4-BE49-F238E27FC236}">
                <a16:creationId xmlns:a16="http://schemas.microsoft.com/office/drawing/2014/main" id="{94E50C7E-0E56-A9A4-E597-B0D42DFBF19E}"/>
              </a:ext>
            </a:extLst>
          </p:cNvPr>
          <p:cNvSpPr txBox="1"/>
          <p:nvPr/>
        </p:nvSpPr>
        <p:spPr>
          <a:xfrm>
            <a:off x="10243600" y="2131725"/>
            <a:ext cx="1106312" cy="369332"/>
          </a:xfrm>
          <a:prstGeom prst="rect">
            <a:avLst/>
          </a:prstGeom>
          <a:noFill/>
        </p:spPr>
        <p:txBody>
          <a:bodyPr wrap="square" rtlCol="0">
            <a:spAutoFit/>
          </a:bodyPr>
          <a:lstStyle/>
          <a:p>
            <a:r>
              <a:rPr lang="en-US" b="1" dirty="0">
                <a:solidFill>
                  <a:srgbClr val="FF0000"/>
                </a:solidFill>
              </a:rPr>
              <a:t>POLICY</a:t>
            </a:r>
            <a:endParaRPr lang="nl-BE" b="1" dirty="0">
              <a:solidFill>
                <a:srgbClr val="FF0000"/>
              </a:solidFill>
            </a:endParaRPr>
          </a:p>
        </p:txBody>
      </p:sp>
      <p:sp>
        <p:nvSpPr>
          <p:cNvPr id="19" name="Oval 18">
            <a:extLst>
              <a:ext uri="{FF2B5EF4-FFF2-40B4-BE49-F238E27FC236}">
                <a16:creationId xmlns:a16="http://schemas.microsoft.com/office/drawing/2014/main" id="{D4125BD3-F874-F04A-AACC-964A7278EDAC}"/>
              </a:ext>
            </a:extLst>
          </p:cNvPr>
          <p:cNvSpPr/>
          <p:nvPr/>
        </p:nvSpPr>
        <p:spPr>
          <a:xfrm>
            <a:off x="1412150" y="2285725"/>
            <a:ext cx="803565" cy="62558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TextBox 19">
            <a:extLst>
              <a:ext uri="{FF2B5EF4-FFF2-40B4-BE49-F238E27FC236}">
                <a16:creationId xmlns:a16="http://schemas.microsoft.com/office/drawing/2014/main" id="{625EA62B-270C-978B-ED02-559EFCA63744}"/>
              </a:ext>
            </a:extLst>
          </p:cNvPr>
          <p:cNvSpPr txBox="1"/>
          <p:nvPr/>
        </p:nvSpPr>
        <p:spPr>
          <a:xfrm>
            <a:off x="988702" y="2869637"/>
            <a:ext cx="1427119" cy="369332"/>
          </a:xfrm>
          <a:prstGeom prst="rect">
            <a:avLst/>
          </a:prstGeom>
          <a:noFill/>
        </p:spPr>
        <p:txBody>
          <a:bodyPr wrap="square" rtlCol="0">
            <a:spAutoFit/>
          </a:bodyPr>
          <a:lstStyle/>
          <a:p>
            <a:r>
              <a:rPr lang="en-US" b="1" dirty="0">
                <a:solidFill>
                  <a:srgbClr val="FF0000"/>
                </a:solidFill>
              </a:rPr>
              <a:t>AUTHORITY</a:t>
            </a:r>
            <a:endParaRPr lang="nl-BE" b="1" dirty="0">
              <a:solidFill>
                <a:srgbClr val="FF0000"/>
              </a:solidFill>
            </a:endParaRPr>
          </a:p>
        </p:txBody>
      </p:sp>
    </p:spTree>
    <p:extLst>
      <p:ext uri="{BB962C8B-B14F-4D97-AF65-F5344CB8AC3E}">
        <p14:creationId xmlns:p14="http://schemas.microsoft.com/office/powerpoint/2010/main" val="249506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8" grpId="0"/>
      <p:bldP spid="19"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5BCBA-D2B7-26EA-9808-485B247DB63D}"/>
              </a:ext>
            </a:extLst>
          </p:cNvPr>
          <p:cNvSpPr>
            <a:spLocks noGrp="1"/>
          </p:cNvSpPr>
          <p:nvPr>
            <p:ph type="title"/>
          </p:nvPr>
        </p:nvSpPr>
        <p:spPr/>
        <p:txBody>
          <a:bodyPr/>
          <a:lstStyle/>
          <a:p>
            <a:r>
              <a:rPr lang="en-US" dirty="0"/>
              <a:t>Who lobbies?</a:t>
            </a:r>
            <a:endParaRPr lang="nl-BE" dirty="0"/>
          </a:p>
        </p:txBody>
      </p:sp>
      <p:sp>
        <p:nvSpPr>
          <p:cNvPr id="3" name="Content Placeholder 2">
            <a:extLst>
              <a:ext uri="{FF2B5EF4-FFF2-40B4-BE49-F238E27FC236}">
                <a16:creationId xmlns:a16="http://schemas.microsoft.com/office/drawing/2014/main" id="{12DDEBAA-F57D-7CFE-480A-E841F74BED08}"/>
              </a:ext>
            </a:extLst>
          </p:cNvPr>
          <p:cNvSpPr>
            <a:spLocks noGrp="1"/>
          </p:cNvSpPr>
          <p:nvPr>
            <p:ph idx="1"/>
          </p:nvPr>
        </p:nvSpPr>
        <p:spPr/>
        <p:txBody>
          <a:bodyPr>
            <a:normAutofit/>
          </a:bodyPr>
          <a:lstStyle/>
          <a:p>
            <a:r>
              <a:rPr lang="en-US" dirty="0"/>
              <a:t>Technically anyone -&gt; </a:t>
            </a:r>
            <a:r>
              <a:rPr lang="en-US" b="1" dirty="0"/>
              <a:t>Individual Representation</a:t>
            </a:r>
          </a:p>
          <a:p>
            <a:pPr lvl="1"/>
            <a:r>
              <a:rPr lang="en-US" dirty="0"/>
              <a:t>Often through the use of professional lobby firms</a:t>
            </a:r>
          </a:p>
          <a:p>
            <a:endParaRPr lang="en-US" dirty="0"/>
          </a:p>
          <a:p>
            <a:endParaRPr lang="en-US" dirty="0"/>
          </a:p>
          <a:p>
            <a:endParaRPr lang="en-US" dirty="0"/>
          </a:p>
          <a:p>
            <a:endParaRPr lang="en-US" dirty="0"/>
          </a:p>
          <a:p>
            <a:pPr marL="0" indent="0">
              <a:buNone/>
            </a:pPr>
            <a:r>
              <a:rPr lang="en-US" dirty="0"/>
              <a:t>But power relationship creates </a:t>
            </a:r>
            <a:r>
              <a:rPr lang="en-US" b="1" dirty="0"/>
              <a:t>zero-sum game</a:t>
            </a:r>
            <a:r>
              <a:rPr lang="en-US" dirty="0"/>
              <a:t>! </a:t>
            </a:r>
          </a:p>
        </p:txBody>
      </p:sp>
      <p:sp>
        <p:nvSpPr>
          <p:cNvPr id="7" name="Rectangle: Rounded Corners 6">
            <a:extLst>
              <a:ext uri="{FF2B5EF4-FFF2-40B4-BE49-F238E27FC236}">
                <a16:creationId xmlns:a16="http://schemas.microsoft.com/office/drawing/2014/main" id="{5DFFF155-C4F0-E314-FBEB-8569A578EB5C}"/>
              </a:ext>
            </a:extLst>
          </p:cNvPr>
          <p:cNvSpPr/>
          <p:nvPr/>
        </p:nvSpPr>
        <p:spPr>
          <a:xfrm>
            <a:off x="1817511" y="2768600"/>
            <a:ext cx="3183467" cy="1320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ACTORS</a:t>
            </a:r>
            <a:r>
              <a:rPr lang="en-US" dirty="0"/>
              <a:t> WITH</a:t>
            </a:r>
          </a:p>
          <a:p>
            <a:pPr algn="ctr"/>
            <a:r>
              <a:rPr lang="en-US" dirty="0"/>
              <a:t>POLICY </a:t>
            </a:r>
            <a:r>
              <a:rPr lang="en-US" b="1" dirty="0"/>
              <a:t>INTEREST</a:t>
            </a:r>
            <a:endParaRPr lang="nl-BE" b="1" dirty="0"/>
          </a:p>
        </p:txBody>
      </p:sp>
      <p:sp>
        <p:nvSpPr>
          <p:cNvPr id="8" name="Arrow: Right 7">
            <a:extLst>
              <a:ext uri="{FF2B5EF4-FFF2-40B4-BE49-F238E27FC236}">
                <a16:creationId xmlns:a16="http://schemas.microsoft.com/office/drawing/2014/main" id="{D66FB635-781D-FB4F-26D3-841FEA4657AA}"/>
              </a:ext>
            </a:extLst>
          </p:cNvPr>
          <p:cNvSpPr/>
          <p:nvPr/>
        </p:nvSpPr>
        <p:spPr>
          <a:xfrm>
            <a:off x="5000978" y="2847622"/>
            <a:ext cx="2190044" cy="1162756"/>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LOBBY</a:t>
            </a:r>
            <a:endParaRPr lang="nl-BE" b="1" dirty="0"/>
          </a:p>
        </p:txBody>
      </p:sp>
      <p:sp>
        <p:nvSpPr>
          <p:cNvPr id="9" name="Rectangle: Rounded Corners 8">
            <a:extLst>
              <a:ext uri="{FF2B5EF4-FFF2-40B4-BE49-F238E27FC236}">
                <a16:creationId xmlns:a16="http://schemas.microsoft.com/office/drawing/2014/main" id="{E568A9AD-3431-8DEE-7BEA-647B432097D3}"/>
              </a:ext>
            </a:extLst>
          </p:cNvPr>
          <p:cNvSpPr/>
          <p:nvPr/>
        </p:nvSpPr>
        <p:spPr>
          <a:xfrm>
            <a:off x="7191022" y="2768600"/>
            <a:ext cx="3183467" cy="132080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AUTHORITIES</a:t>
            </a:r>
            <a:r>
              <a:rPr lang="en-US" dirty="0"/>
              <a:t> FOR</a:t>
            </a:r>
          </a:p>
          <a:p>
            <a:pPr algn="ctr"/>
            <a:r>
              <a:rPr lang="en-US" dirty="0"/>
              <a:t>POLICY </a:t>
            </a:r>
            <a:r>
              <a:rPr lang="en-US" b="1" dirty="0"/>
              <a:t>OUTCOME</a:t>
            </a:r>
            <a:endParaRPr lang="nl-BE" b="1" dirty="0"/>
          </a:p>
        </p:txBody>
      </p:sp>
    </p:spTree>
    <p:extLst>
      <p:ext uri="{BB962C8B-B14F-4D97-AF65-F5344CB8AC3E}">
        <p14:creationId xmlns:p14="http://schemas.microsoft.com/office/powerpoint/2010/main" val="88573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0636A-CA7B-700C-56A9-078AECA7E8BC}"/>
              </a:ext>
            </a:extLst>
          </p:cNvPr>
          <p:cNvSpPr>
            <a:spLocks noGrp="1"/>
          </p:cNvSpPr>
          <p:nvPr>
            <p:ph type="title"/>
          </p:nvPr>
        </p:nvSpPr>
        <p:spPr/>
        <p:txBody>
          <a:bodyPr/>
          <a:lstStyle/>
          <a:p>
            <a:r>
              <a:rPr lang="en-US" dirty="0"/>
              <a:t>Recap: What is power? </a:t>
            </a:r>
            <a:endParaRPr lang="nl-BE" dirty="0"/>
          </a:p>
        </p:txBody>
      </p:sp>
      <p:sp>
        <p:nvSpPr>
          <p:cNvPr id="3" name="Content Placeholder 2">
            <a:extLst>
              <a:ext uri="{FF2B5EF4-FFF2-40B4-BE49-F238E27FC236}">
                <a16:creationId xmlns:a16="http://schemas.microsoft.com/office/drawing/2014/main" id="{CD5941DE-3240-5806-DA66-AD891F531F1B}"/>
              </a:ext>
            </a:extLst>
          </p:cNvPr>
          <p:cNvSpPr>
            <a:spLocks noGrp="1"/>
          </p:cNvSpPr>
          <p:nvPr>
            <p:ph idx="1"/>
          </p:nvPr>
        </p:nvSpPr>
        <p:spPr/>
        <p:txBody>
          <a:bodyPr/>
          <a:lstStyle/>
          <a:p>
            <a:r>
              <a:rPr lang="en-US" dirty="0"/>
              <a:t>Resource approaches (Weber, Parsons, Mann, Giddens):</a:t>
            </a:r>
          </a:p>
          <a:p>
            <a:pPr lvl="1"/>
            <a:r>
              <a:rPr lang="en-US" dirty="0"/>
              <a:t>Probability of pushing through own will in the face of another’s resistance, regardless of basis of probability (</a:t>
            </a:r>
            <a:r>
              <a:rPr lang="en-US" i="1" dirty="0"/>
              <a:t>Weber</a:t>
            </a:r>
            <a:r>
              <a:rPr lang="en-US" dirty="0"/>
              <a:t>)</a:t>
            </a:r>
          </a:p>
          <a:p>
            <a:pPr lvl="1"/>
            <a:r>
              <a:rPr lang="en-US" b="1" dirty="0"/>
              <a:t>Zero-sum game (distributive power)</a:t>
            </a:r>
          </a:p>
          <a:p>
            <a:pPr lvl="1"/>
            <a:endParaRPr lang="nl-BE" dirty="0"/>
          </a:p>
        </p:txBody>
      </p:sp>
      <p:pic>
        <p:nvPicPr>
          <p:cNvPr id="5" name="Picture 4" descr="A diagram of a game&#10;&#10;Description automatically generated">
            <a:extLst>
              <a:ext uri="{FF2B5EF4-FFF2-40B4-BE49-F238E27FC236}">
                <a16:creationId xmlns:a16="http://schemas.microsoft.com/office/drawing/2014/main" id="{AA583327-4FE9-2573-084C-15B899C1F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8090" y="3174961"/>
            <a:ext cx="4153634" cy="3002002"/>
          </a:xfrm>
          <a:prstGeom prst="rect">
            <a:avLst/>
          </a:prstGeom>
        </p:spPr>
      </p:pic>
    </p:spTree>
    <p:extLst>
      <p:ext uri="{BB962C8B-B14F-4D97-AF65-F5344CB8AC3E}">
        <p14:creationId xmlns:p14="http://schemas.microsoft.com/office/powerpoint/2010/main" val="1377353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C1448-D34C-6C41-DF64-49EAC417B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7B8EE-0238-662D-E687-BE9599D76725}"/>
              </a:ext>
            </a:extLst>
          </p:cNvPr>
          <p:cNvSpPr>
            <a:spLocks noGrp="1"/>
          </p:cNvSpPr>
          <p:nvPr>
            <p:ph type="title"/>
          </p:nvPr>
        </p:nvSpPr>
        <p:spPr/>
        <p:txBody>
          <a:bodyPr/>
          <a:lstStyle/>
          <a:p>
            <a:r>
              <a:rPr lang="en-US" dirty="0"/>
              <a:t>Who lobbies?</a:t>
            </a:r>
            <a:endParaRPr lang="nl-BE" dirty="0"/>
          </a:p>
        </p:txBody>
      </p:sp>
      <p:sp>
        <p:nvSpPr>
          <p:cNvPr id="3" name="Content Placeholder 2">
            <a:extLst>
              <a:ext uri="{FF2B5EF4-FFF2-40B4-BE49-F238E27FC236}">
                <a16:creationId xmlns:a16="http://schemas.microsoft.com/office/drawing/2014/main" id="{041B1359-895D-4034-F1D3-E910A55CDD65}"/>
              </a:ext>
            </a:extLst>
          </p:cNvPr>
          <p:cNvSpPr>
            <a:spLocks noGrp="1"/>
          </p:cNvSpPr>
          <p:nvPr>
            <p:ph idx="1"/>
          </p:nvPr>
        </p:nvSpPr>
        <p:spPr/>
        <p:txBody>
          <a:bodyPr>
            <a:normAutofit/>
          </a:bodyPr>
          <a:lstStyle/>
          <a:p>
            <a:r>
              <a:rPr lang="en-US" dirty="0"/>
              <a:t>Technically anyone -&gt; </a:t>
            </a:r>
            <a:r>
              <a:rPr lang="en-US" b="1" dirty="0"/>
              <a:t>Individual Representation</a:t>
            </a:r>
          </a:p>
          <a:p>
            <a:pPr lvl="1"/>
            <a:r>
              <a:rPr lang="en-US" dirty="0"/>
              <a:t>But in struggle for power leads to zero-sum game!</a:t>
            </a:r>
          </a:p>
          <a:p>
            <a:pPr lvl="1"/>
            <a:r>
              <a:rPr lang="en-US" dirty="0"/>
              <a:t>Instead: collective power!</a:t>
            </a:r>
          </a:p>
        </p:txBody>
      </p:sp>
      <p:pic>
        <p:nvPicPr>
          <p:cNvPr id="4" name="Picture 3">
            <a:extLst>
              <a:ext uri="{FF2B5EF4-FFF2-40B4-BE49-F238E27FC236}">
                <a16:creationId xmlns:a16="http://schemas.microsoft.com/office/drawing/2014/main" id="{5D858C15-C637-F108-32A5-87DC7EE98CBC}"/>
              </a:ext>
            </a:extLst>
          </p:cNvPr>
          <p:cNvPicPr>
            <a:picLocks noChangeAspect="1"/>
          </p:cNvPicPr>
          <p:nvPr/>
        </p:nvPicPr>
        <p:blipFill>
          <a:blip r:embed="rId3"/>
          <a:stretch>
            <a:fillRect/>
          </a:stretch>
        </p:blipFill>
        <p:spPr>
          <a:xfrm>
            <a:off x="5466640" y="2912830"/>
            <a:ext cx="5999708" cy="3580045"/>
          </a:xfrm>
          <a:prstGeom prst="rect">
            <a:avLst/>
          </a:prstGeom>
          <a:ln>
            <a:solidFill>
              <a:srgbClr val="C00000"/>
            </a:solidFill>
          </a:ln>
        </p:spPr>
      </p:pic>
      <p:sp>
        <p:nvSpPr>
          <p:cNvPr id="5" name="Rectangle: Rounded Corners 4">
            <a:extLst>
              <a:ext uri="{FF2B5EF4-FFF2-40B4-BE49-F238E27FC236}">
                <a16:creationId xmlns:a16="http://schemas.microsoft.com/office/drawing/2014/main" id="{0D939736-1098-F2B4-B88A-7F9355A24197}"/>
              </a:ext>
            </a:extLst>
          </p:cNvPr>
          <p:cNvSpPr/>
          <p:nvPr/>
        </p:nvSpPr>
        <p:spPr>
          <a:xfrm>
            <a:off x="5463818" y="3545158"/>
            <a:ext cx="5889982" cy="11848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 name="Rectangle: Rounded Corners 5">
            <a:extLst>
              <a:ext uri="{FF2B5EF4-FFF2-40B4-BE49-F238E27FC236}">
                <a16:creationId xmlns:a16="http://schemas.microsoft.com/office/drawing/2014/main" id="{F866B711-05D4-3B0F-0017-328F7016D36C}"/>
              </a:ext>
            </a:extLst>
          </p:cNvPr>
          <p:cNvSpPr/>
          <p:nvPr/>
        </p:nvSpPr>
        <p:spPr>
          <a:xfrm>
            <a:off x="5463817" y="5362372"/>
            <a:ext cx="5779915" cy="3610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noFill/>
            </a:endParaRPr>
          </a:p>
        </p:txBody>
      </p:sp>
      <p:sp>
        <p:nvSpPr>
          <p:cNvPr id="7" name="Rectangle: Rounded Corners 6">
            <a:extLst>
              <a:ext uri="{FF2B5EF4-FFF2-40B4-BE49-F238E27FC236}">
                <a16:creationId xmlns:a16="http://schemas.microsoft.com/office/drawing/2014/main" id="{FB8506BF-C956-0FAD-93B1-9CC2899664B8}"/>
              </a:ext>
            </a:extLst>
          </p:cNvPr>
          <p:cNvSpPr/>
          <p:nvPr/>
        </p:nvSpPr>
        <p:spPr>
          <a:xfrm>
            <a:off x="341490" y="3177894"/>
            <a:ext cx="2190044" cy="725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ACTORS</a:t>
            </a:r>
            <a:r>
              <a:rPr lang="en-US" dirty="0"/>
              <a:t> WITH</a:t>
            </a:r>
          </a:p>
          <a:p>
            <a:pPr algn="ctr"/>
            <a:r>
              <a:rPr lang="en-US" dirty="0"/>
              <a:t>POLICY </a:t>
            </a:r>
            <a:r>
              <a:rPr lang="en-US" b="1" dirty="0"/>
              <a:t>INTEREST</a:t>
            </a:r>
            <a:endParaRPr lang="nl-BE" b="1" dirty="0"/>
          </a:p>
        </p:txBody>
      </p:sp>
      <p:sp>
        <p:nvSpPr>
          <p:cNvPr id="8" name="Arrow: Right 7">
            <a:extLst>
              <a:ext uri="{FF2B5EF4-FFF2-40B4-BE49-F238E27FC236}">
                <a16:creationId xmlns:a16="http://schemas.microsoft.com/office/drawing/2014/main" id="{5D440102-C089-37F6-317C-D074057644F3}"/>
              </a:ext>
            </a:extLst>
          </p:cNvPr>
          <p:cNvSpPr/>
          <p:nvPr/>
        </p:nvSpPr>
        <p:spPr>
          <a:xfrm rot="5400000">
            <a:off x="3448824" y="4166730"/>
            <a:ext cx="1285380" cy="725313"/>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vert="wordArtVert" rtlCol="0" anchor="ctr" anchorCtr="0">
            <a:normAutofit fontScale="62500" lnSpcReduction="20000"/>
          </a:bodyPr>
          <a:lstStyle/>
          <a:p>
            <a:pPr algn="ctr"/>
            <a:r>
              <a:rPr lang="en-US" b="1" dirty="0"/>
              <a:t>LOBBY</a:t>
            </a:r>
            <a:endParaRPr lang="nl-BE" b="1" dirty="0"/>
          </a:p>
        </p:txBody>
      </p:sp>
      <p:sp>
        <p:nvSpPr>
          <p:cNvPr id="9" name="Rectangle: Rounded Corners 8">
            <a:extLst>
              <a:ext uri="{FF2B5EF4-FFF2-40B4-BE49-F238E27FC236}">
                <a16:creationId xmlns:a16="http://schemas.microsoft.com/office/drawing/2014/main" id="{8345DC8F-7FC4-0BB5-6459-5246BCF4B96A}"/>
              </a:ext>
            </a:extLst>
          </p:cNvPr>
          <p:cNvSpPr/>
          <p:nvPr/>
        </p:nvSpPr>
        <p:spPr>
          <a:xfrm>
            <a:off x="1557864" y="5172075"/>
            <a:ext cx="3183467" cy="132080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AUTHORITIES</a:t>
            </a:r>
            <a:r>
              <a:rPr lang="en-US" dirty="0"/>
              <a:t> FOR</a:t>
            </a:r>
          </a:p>
          <a:p>
            <a:pPr algn="ctr"/>
            <a:r>
              <a:rPr lang="en-US" dirty="0"/>
              <a:t>POLICY </a:t>
            </a:r>
            <a:r>
              <a:rPr lang="en-US" b="1" dirty="0"/>
              <a:t>OUTCOME</a:t>
            </a:r>
            <a:endParaRPr lang="nl-BE" b="1" dirty="0"/>
          </a:p>
        </p:txBody>
      </p:sp>
      <p:sp>
        <p:nvSpPr>
          <p:cNvPr id="10" name="Arrow: Right 9">
            <a:extLst>
              <a:ext uri="{FF2B5EF4-FFF2-40B4-BE49-F238E27FC236}">
                <a16:creationId xmlns:a16="http://schemas.microsoft.com/office/drawing/2014/main" id="{89A6C97F-C99D-F57D-29AA-9C38C7439079}"/>
              </a:ext>
            </a:extLst>
          </p:cNvPr>
          <p:cNvSpPr/>
          <p:nvPr/>
        </p:nvSpPr>
        <p:spPr>
          <a:xfrm>
            <a:off x="2531534" y="3177895"/>
            <a:ext cx="1161345" cy="725313"/>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0">
            <a:normAutofit fontScale="70000" lnSpcReduction="20000"/>
          </a:bodyPr>
          <a:lstStyle/>
          <a:p>
            <a:pPr algn="ctr"/>
            <a:r>
              <a:rPr lang="en-US" b="1" dirty="0"/>
              <a:t>ORGANIZE</a:t>
            </a:r>
            <a:endParaRPr lang="nl-BE" b="1" dirty="0"/>
          </a:p>
        </p:txBody>
      </p:sp>
      <p:sp>
        <p:nvSpPr>
          <p:cNvPr id="11" name="Rectangle: Rounded Corners 10">
            <a:extLst>
              <a:ext uri="{FF2B5EF4-FFF2-40B4-BE49-F238E27FC236}">
                <a16:creationId xmlns:a16="http://schemas.microsoft.com/office/drawing/2014/main" id="{BEB7568A-24A2-3525-7C88-EFAB9FFCD07A}"/>
              </a:ext>
            </a:extLst>
          </p:cNvPr>
          <p:cNvSpPr/>
          <p:nvPr/>
        </p:nvSpPr>
        <p:spPr>
          <a:xfrm>
            <a:off x="3616673" y="3177894"/>
            <a:ext cx="1598790" cy="7088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COLLECTIVE</a:t>
            </a:r>
            <a:endParaRPr lang="nl-BE" b="1" dirty="0"/>
          </a:p>
        </p:txBody>
      </p:sp>
    </p:spTree>
    <p:extLst>
      <p:ext uri="{BB962C8B-B14F-4D97-AF65-F5344CB8AC3E}">
        <p14:creationId xmlns:p14="http://schemas.microsoft.com/office/powerpoint/2010/main" val="380243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F2484-EE87-FD36-DED7-882845FEE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6B3EE-EEA3-D873-54C3-D7EAE94CB1B7}"/>
              </a:ext>
            </a:extLst>
          </p:cNvPr>
          <p:cNvSpPr>
            <a:spLocks noGrp="1"/>
          </p:cNvSpPr>
          <p:nvPr>
            <p:ph type="title"/>
          </p:nvPr>
        </p:nvSpPr>
        <p:spPr/>
        <p:txBody>
          <a:bodyPr/>
          <a:lstStyle/>
          <a:p>
            <a:r>
              <a:rPr lang="en-US" dirty="0"/>
              <a:t>Who lobbies?</a:t>
            </a:r>
            <a:endParaRPr lang="nl-BE" dirty="0"/>
          </a:p>
        </p:txBody>
      </p:sp>
      <p:sp>
        <p:nvSpPr>
          <p:cNvPr id="3" name="Content Placeholder 2">
            <a:extLst>
              <a:ext uri="{FF2B5EF4-FFF2-40B4-BE49-F238E27FC236}">
                <a16:creationId xmlns:a16="http://schemas.microsoft.com/office/drawing/2014/main" id="{B1E03322-A92E-331F-9C07-DF8DC65B6F02}"/>
              </a:ext>
            </a:extLst>
          </p:cNvPr>
          <p:cNvSpPr>
            <a:spLocks noGrp="1"/>
          </p:cNvSpPr>
          <p:nvPr>
            <p:ph idx="1"/>
          </p:nvPr>
        </p:nvSpPr>
        <p:spPr/>
        <p:txBody>
          <a:bodyPr>
            <a:normAutofit fontScale="92500" lnSpcReduction="20000"/>
          </a:bodyPr>
          <a:lstStyle/>
          <a:p>
            <a:r>
              <a:rPr lang="en-US" dirty="0"/>
              <a:t>Technically anyone -&gt; </a:t>
            </a:r>
            <a:r>
              <a:rPr lang="en-US" b="1" dirty="0"/>
              <a:t>Individual Representation</a:t>
            </a:r>
          </a:p>
          <a:p>
            <a:r>
              <a:rPr lang="en-US" dirty="0"/>
              <a:t>But often in form of </a:t>
            </a:r>
            <a:r>
              <a:rPr lang="en-US" b="1" dirty="0"/>
              <a:t>Collective</a:t>
            </a:r>
            <a:r>
              <a:rPr lang="en-US" dirty="0"/>
              <a:t> representation</a:t>
            </a:r>
          </a:p>
          <a:p>
            <a:pPr lvl="1"/>
            <a:r>
              <a:rPr lang="en-US" dirty="0"/>
              <a:t>Many different terms: </a:t>
            </a:r>
          </a:p>
          <a:p>
            <a:pPr lvl="2"/>
            <a:r>
              <a:rPr lang="en-US" dirty="0"/>
              <a:t>Interest associations</a:t>
            </a:r>
          </a:p>
          <a:p>
            <a:pPr lvl="2"/>
            <a:r>
              <a:rPr lang="en-US" dirty="0"/>
              <a:t>Pressure groups</a:t>
            </a:r>
          </a:p>
          <a:p>
            <a:pPr lvl="2"/>
            <a:r>
              <a:rPr lang="en-US" dirty="0"/>
              <a:t>Civil society </a:t>
            </a:r>
            <a:r>
              <a:rPr lang="en-US" dirty="0" err="1"/>
              <a:t>organisations</a:t>
            </a:r>
            <a:endParaRPr lang="en-US" dirty="0"/>
          </a:p>
          <a:p>
            <a:pPr lvl="2"/>
            <a:r>
              <a:rPr lang="en-US" dirty="0"/>
              <a:t>Organized interests</a:t>
            </a:r>
          </a:p>
          <a:p>
            <a:pPr lvl="2"/>
            <a:r>
              <a:rPr lang="en-US" dirty="0"/>
              <a:t>Citizen Groups</a:t>
            </a:r>
          </a:p>
          <a:p>
            <a:pPr lvl="2"/>
            <a:r>
              <a:rPr lang="en-US" dirty="0"/>
              <a:t>Public interest groups</a:t>
            </a:r>
          </a:p>
          <a:p>
            <a:pPr lvl="2"/>
            <a:r>
              <a:rPr lang="en-US" dirty="0"/>
              <a:t>NGOs</a:t>
            </a:r>
          </a:p>
          <a:p>
            <a:pPr lvl="2"/>
            <a:r>
              <a:rPr lang="en-US" dirty="0"/>
              <a:t>Social movement </a:t>
            </a:r>
            <a:r>
              <a:rPr lang="en-US" dirty="0" err="1"/>
              <a:t>organisations</a:t>
            </a:r>
            <a:endParaRPr lang="en-US" dirty="0"/>
          </a:p>
          <a:p>
            <a:pPr lvl="2"/>
            <a:r>
              <a:rPr lang="en-US" dirty="0"/>
              <a:t>Civil society </a:t>
            </a:r>
            <a:r>
              <a:rPr lang="en-US" dirty="0" err="1"/>
              <a:t>organisations</a:t>
            </a:r>
            <a:endParaRPr lang="en-US" dirty="0"/>
          </a:p>
          <a:p>
            <a:pPr lvl="2"/>
            <a:r>
              <a:rPr lang="en-US" dirty="0"/>
              <a:t>…</a:t>
            </a:r>
          </a:p>
          <a:p>
            <a:pPr lvl="1"/>
            <a:r>
              <a:rPr lang="en-US" dirty="0"/>
              <a:t>Most common: </a:t>
            </a:r>
            <a:r>
              <a:rPr lang="en-US" b="1" dirty="0"/>
              <a:t>Interest Groups</a:t>
            </a:r>
            <a:endParaRPr lang="en-US" dirty="0"/>
          </a:p>
        </p:txBody>
      </p:sp>
    </p:spTree>
    <p:extLst>
      <p:ext uri="{BB962C8B-B14F-4D97-AF65-F5344CB8AC3E}">
        <p14:creationId xmlns:p14="http://schemas.microsoft.com/office/powerpoint/2010/main" val="316379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F099-7ED9-5456-1CE6-8389B4A0A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65EDB-FF98-D799-549A-0CD45885043A}"/>
              </a:ext>
            </a:extLst>
          </p:cNvPr>
          <p:cNvSpPr>
            <a:spLocks noGrp="1"/>
          </p:cNvSpPr>
          <p:nvPr>
            <p:ph type="title"/>
          </p:nvPr>
        </p:nvSpPr>
        <p:spPr/>
        <p:txBody>
          <a:bodyPr/>
          <a:lstStyle/>
          <a:p>
            <a:r>
              <a:rPr lang="en-US" dirty="0"/>
              <a:t>What is an interest group?</a:t>
            </a:r>
            <a:endParaRPr lang="nl-BE" dirty="0"/>
          </a:p>
        </p:txBody>
      </p:sp>
      <p:sp>
        <p:nvSpPr>
          <p:cNvPr id="3" name="Content Placeholder 2">
            <a:extLst>
              <a:ext uri="{FF2B5EF4-FFF2-40B4-BE49-F238E27FC236}">
                <a16:creationId xmlns:a16="http://schemas.microsoft.com/office/drawing/2014/main" id="{4E0444DC-73E7-E597-2DEF-DD9BEE057C1C}"/>
              </a:ext>
            </a:extLst>
          </p:cNvPr>
          <p:cNvSpPr>
            <a:spLocks noGrp="1"/>
          </p:cNvSpPr>
          <p:nvPr>
            <p:ph idx="1"/>
          </p:nvPr>
        </p:nvSpPr>
        <p:spPr>
          <a:xfrm>
            <a:off x="838200" y="2705099"/>
            <a:ext cx="10515600" cy="3471863"/>
          </a:xfrm>
        </p:spPr>
        <p:txBody>
          <a:bodyPr>
            <a:normAutofit/>
          </a:bodyPr>
          <a:lstStyle/>
          <a:p>
            <a:pPr marL="0" indent="0">
              <a:buNone/>
            </a:pPr>
            <a:r>
              <a:rPr lang="en-US" dirty="0"/>
              <a:t>Central idea </a:t>
            </a:r>
            <a:r>
              <a:rPr lang="en-US" sz="1800" b="1" dirty="0"/>
              <a:t>(Beyers et al. 2008)</a:t>
            </a:r>
            <a:r>
              <a:rPr lang="en-US" dirty="0"/>
              <a:t>:</a:t>
            </a:r>
          </a:p>
          <a:p>
            <a:pPr lvl="1"/>
            <a:r>
              <a:rPr lang="en-US" dirty="0"/>
              <a:t>Represent collective interests</a:t>
            </a:r>
          </a:p>
          <a:p>
            <a:pPr lvl="1"/>
            <a:r>
              <a:rPr lang="en-US" dirty="0"/>
              <a:t>Engage in collective political advocacy</a:t>
            </a:r>
          </a:p>
          <a:p>
            <a:pPr lvl="1"/>
            <a:r>
              <a:rPr lang="en-US" dirty="0"/>
              <a:t>Without competing in elections (see class on Wednesday)… </a:t>
            </a:r>
          </a:p>
          <a:p>
            <a:pPr lvl="1"/>
            <a:r>
              <a:rPr lang="en-US" dirty="0"/>
              <a:t>but rather by interacting with political decision-makers in the form of lobbying</a:t>
            </a:r>
          </a:p>
          <a:p>
            <a:pPr marL="457200" lvl="1" indent="0">
              <a:buNone/>
            </a:pPr>
            <a:endParaRPr lang="en-US" dirty="0"/>
          </a:p>
          <a:p>
            <a:pPr marL="0" indent="0">
              <a:buNone/>
            </a:pPr>
            <a:r>
              <a:rPr lang="en-US" dirty="0"/>
              <a:t>Examples?</a:t>
            </a:r>
          </a:p>
        </p:txBody>
      </p:sp>
      <p:sp>
        <p:nvSpPr>
          <p:cNvPr id="6" name="Rectangle: Rounded Corners 5">
            <a:extLst>
              <a:ext uri="{FF2B5EF4-FFF2-40B4-BE49-F238E27FC236}">
                <a16:creationId xmlns:a16="http://schemas.microsoft.com/office/drawing/2014/main" id="{97D85C5B-21FF-F8E3-306B-F89FE8A02923}"/>
              </a:ext>
            </a:extLst>
          </p:cNvPr>
          <p:cNvSpPr/>
          <p:nvPr/>
        </p:nvSpPr>
        <p:spPr>
          <a:xfrm>
            <a:off x="838200" y="1597837"/>
            <a:ext cx="2190044" cy="725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ACTORS</a:t>
            </a:r>
            <a:r>
              <a:rPr lang="en-US" dirty="0"/>
              <a:t> WITH</a:t>
            </a:r>
          </a:p>
          <a:p>
            <a:pPr algn="ctr"/>
            <a:r>
              <a:rPr lang="en-US" dirty="0"/>
              <a:t>POLICY </a:t>
            </a:r>
            <a:r>
              <a:rPr lang="en-US" b="1" dirty="0"/>
              <a:t>INTEREST</a:t>
            </a:r>
            <a:endParaRPr lang="nl-BE" b="1" dirty="0"/>
          </a:p>
        </p:txBody>
      </p:sp>
      <p:sp>
        <p:nvSpPr>
          <p:cNvPr id="7" name="Arrow: Right 6">
            <a:extLst>
              <a:ext uri="{FF2B5EF4-FFF2-40B4-BE49-F238E27FC236}">
                <a16:creationId xmlns:a16="http://schemas.microsoft.com/office/drawing/2014/main" id="{CF267B80-B5BA-510F-E77F-34ED2AD1ADED}"/>
              </a:ext>
            </a:extLst>
          </p:cNvPr>
          <p:cNvSpPr/>
          <p:nvPr/>
        </p:nvSpPr>
        <p:spPr>
          <a:xfrm>
            <a:off x="5712173" y="1581325"/>
            <a:ext cx="1285380" cy="725313"/>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vert="wordArtVert" rtlCol="0" anchor="ctr" anchorCtr="0">
            <a:normAutofit fontScale="62500" lnSpcReduction="20000"/>
          </a:bodyPr>
          <a:lstStyle/>
          <a:p>
            <a:pPr algn="ctr"/>
            <a:r>
              <a:rPr lang="en-US" b="1" dirty="0"/>
              <a:t>LOBBY</a:t>
            </a:r>
            <a:endParaRPr lang="nl-BE" b="1" dirty="0"/>
          </a:p>
        </p:txBody>
      </p:sp>
      <p:sp>
        <p:nvSpPr>
          <p:cNvPr id="8" name="Rectangle: Rounded Corners 7">
            <a:extLst>
              <a:ext uri="{FF2B5EF4-FFF2-40B4-BE49-F238E27FC236}">
                <a16:creationId xmlns:a16="http://schemas.microsoft.com/office/drawing/2014/main" id="{5A892859-37C1-3A6E-C525-B529A4E96E57}"/>
              </a:ext>
            </a:extLst>
          </p:cNvPr>
          <p:cNvSpPr/>
          <p:nvPr/>
        </p:nvSpPr>
        <p:spPr>
          <a:xfrm>
            <a:off x="6997553" y="1581324"/>
            <a:ext cx="3183467" cy="741825"/>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AUTHORITIES</a:t>
            </a:r>
            <a:r>
              <a:rPr lang="en-US" dirty="0"/>
              <a:t> FOR</a:t>
            </a:r>
          </a:p>
          <a:p>
            <a:pPr algn="ctr"/>
            <a:r>
              <a:rPr lang="en-US" dirty="0"/>
              <a:t>POLICY </a:t>
            </a:r>
            <a:r>
              <a:rPr lang="en-US" b="1" dirty="0"/>
              <a:t>OUTCOME</a:t>
            </a:r>
            <a:endParaRPr lang="nl-BE" b="1" dirty="0"/>
          </a:p>
        </p:txBody>
      </p:sp>
      <p:sp>
        <p:nvSpPr>
          <p:cNvPr id="9" name="Arrow: Right 8">
            <a:extLst>
              <a:ext uri="{FF2B5EF4-FFF2-40B4-BE49-F238E27FC236}">
                <a16:creationId xmlns:a16="http://schemas.microsoft.com/office/drawing/2014/main" id="{E5875272-D5E7-B162-AFA9-CAC45370B7A4}"/>
              </a:ext>
            </a:extLst>
          </p:cNvPr>
          <p:cNvSpPr/>
          <p:nvPr/>
        </p:nvSpPr>
        <p:spPr>
          <a:xfrm>
            <a:off x="3028244" y="1597838"/>
            <a:ext cx="1161345" cy="725313"/>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0">
            <a:normAutofit fontScale="70000" lnSpcReduction="20000"/>
          </a:bodyPr>
          <a:lstStyle/>
          <a:p>
            <a:pPr algn="ctr"/>
            <a:r>
              <a:rPr lang="en-US" b="1" dirty="0"/>
              <a:t>ORGANIZE</a:t>
            </a:r>
            <a:endParaRPr lang="nl-BE" b="1" dirty="0"/>
          </a:p>
        </p:txBody>
      </p:sp>
      <p:sp>
        <p:nvSpPr>
          <p:cNvPr id="10" name="Rectangle: Rounded Corners 9">
            <a:extLst>
              <a:ext uri="{FF2B5EF4-FFF2-40B4-BE49-F238E27FC236}">
                <a16:creationId xmlns:a16="http://schemas.microsoft.com/office/drawing/2014/main" id="{26FF4B22-931D-E0B1-7F52-355AA0D5D157}"/>
              </a:ext>
            </a:extLst>
          </p:cNvPr>
          <p:cNvSpPr/>
          <p:nvPr/>
        </p:nvSpPr>
        <p:spPr>
          <a:xfrm>
            <a:off x="4113383" y="1597837"/>
            <a:ext cx="1598790" cy="7088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COLLECTIVE</a:t>
            </a:r>
            <a:endParaRPr lang="nl-BE" b="1" dirty="0"/>
          </a:p>
        </p:txBody>
      </p:sp>
      <p:sp>
        <p:nvSpPr>
          <p:cNvPr id="11" name="Right Brace 10">
            <a:extLst>
              <a:ext uri="{FF2B5EF4-FFF2-40B4-BE49-F238E27FC236}">
                <a16:creationId xmlns:a16="http://schemas.microsoft.com/office/drawing/2014/main" id="{7F681F4E-886F-969D-34EA-0E33C0152833}"/>
              </a:ext>
            </a:extLst>
          </p:cNvPr>
          <p:cNvSpPr/>
          <p:nvPr/>
        </p:nvSpPr>
        <p:spPr>
          <a:xfrm rot="16200000">
            <a:off x="4516912" y="-1486378"/>
            <a:ext cx="351475" cy="80645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BE"/>
          </a:p>
        </p:txBody>
      </p:sp>
    </p:spTree>
    <p:extLst>
      <p:ext uri="{BB962C8B-B14F-4D97-AF65-F5344CB8AC3E}">
        <p14:creationId xmlns:p14="http://schemas.microsoft.com/office/powerpoint/2010/main" val="158663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9964-6A53-619C-3852-733B5EBF7F5E}"/>
              </a:ext>
            </a:extLst>
          </p:cNvPr>
          <p:cNvSpPr>
            <a:spLocks noGrp="1"/>
          </p:cNvSpPr>
          <p:nvPr>
            <p:ph type="title"/>
          </p:nvPr>
        </p:nvSpPr>
        <p:spPr/>
        <p:txBody>
          <a:bodyPr>
            <a:normAutofit/>
          </a:bodyPr>
          <a:lstStyle/>
          <a:p>
            <a:r>
              <a:rPr lang="en-US" sz="4000" dirty="0"/>
              <a:t>Ireland: over 2000 groups (</a:t>
            </a:r>
            <a:r>
              <a:rPr lang="en-US" sz="4000" dirty="0" err="1"/>
              <a:t>Crepaz</a:t>
            </a:r>
            <a:r>
              <a:rPr lang="en-US" sz="4000" dirty="0"/>
              <a:t> &amp; Chari 2022)</a:t>
            </a:r>
            <a:endParaRPr lang="nl-BE" sz="4000" dirty="0"/>
          </a:p>
        </p:txBody>
      </p:sp>
      <p:pic>
        <p:nvPicPr>
          <p:cNvPr id="5" name="Picture 4">
            <a:extLst>
              <a:ext uri="{FF2B5EF4-FFF2-40B4-BE49-F238E27FC236}">
                <a16:creationId xmlns:a16="http://schemas.microsoft.com/office/drawing/2014/main" id="{FB5E157E-6BC5-B2C8-1976-A07097566EDB}"/>
              </a:ext>
            </a:extLst>
          </p:cNvPr>
          <p:cNvPicPr>
            <a:picLocks noChangeAspect="1"/>
          </p:cNvPicPr>
          <p:nvPr/>
        </p:nvPicPr>
        <p:blipFill>
          <a:blip r:embed="rId3"/>
          <a:stretch>
            <a:fillRect/>
          </a:stretch>
        </p:blipFill>
        <p:spPr>
          <a:xfrm>
            <a:off x="2792078" y="1302395"/>
            <a:ext cx="6607843" cy="5190480"/>
          </a:xfrm>
          <a:prstGeom prst="rect">
            <a:avLst/>
          </a:prstGeom>
        </p:spPr>
      </p:pic>
    </p:spTree>
    <p:extLst>
      <p:ext uri="{BB962C8B-B14F-4D97-AF65-F5344CB8AC3E}">
        <p14:creationId xmlns:p14="http://schemas.microsoft.com/office/powerpoint/2010/main" val="300946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EF5F-5924-1103-EEFC-9F2D4875B238}"/>
              </a:ext>
            </a:extLst>
          </p:cNvPr>
          <p:cNvSpPr>
            <a:spLocks noGrp="1"/>
          </p:cNvSpPr>
          <p:nvPr>
            <p:ph type="title"/>
          </p:nvPr>
        </p:nvSpPr>
        <p:spPr/>
        <p:txBody>
          <a:bodyPr/>
          <a:lstStyle/>
          <a:p>
            <a:r>
              <a:rPr lang="en-US" dirty="0"/>
              <a:t>Exercise: Lobbying for Open Book Exam</a:t>
            </a:r>
            <a:endParaRPr lang="nl-BE" dirty="0"/>
          </a:p>
        </p:txBody>
      </p:sp>
      <p:sp>
        <p:nvSpPr>
          <p:cNvPr id="3" name="Content Placeholder 2">
            <a:extLst>
              <a:ext uri="{FF2B5EF4-FFF2-40B4-BE49-F238E27FC236}">
                <a16:creationId xmlns:a16="http://schemas.microsoft.com/office/drawing/2014/main" id="{116B06D4-FEBE-6491-0ABE-FCA27134ACC2}"/>
              </a:ext>
            </a:extLst>
          </p:cNvPr>
          <p:cNvSpPr>
            <a:spLocks noGrp="1"/>
          </p:cNvSpPr>
          <p:nvPr>
            <p:ph idx="1"/>
          </p:nvPr>
        </p:nvSpPr>
        <p:spPr/>
        <p:txBody>
          <a:bodyPr>
            <a:normAutofit lnSpcReduction="10000"/>
          </a:bodyPr>
          <a:lstStyle/>
          <a:p>
            <a:pPr marL="0" indent="0">
              <a:buNone/>
            </a:pPr>
            <a:r>
              <a:rPr lang="en-US" dirty="0"/>
              <a:t>In an unexpected turn of events, the exam for the module “Money, Power and Democracy” has been switched from open book to closed book. This means that you will be required to actually study the boring material covered during the lectures for the exam.</a:t>
            </a:r>
          </a:p>
          <a:p>
            <a:pPr marL="0" indent="0">
              <a:buNone/>
            </a:pPr>
            <a:endParaRPr lang="en-US" dirty="0"/>
          </a:p>
          <a:p>
            <a:pPr marL="0" indent="0">
              <a:buNone/>
            </a:pPr>
            <a:r>
              <a:rPr lang="en-US" dirty="0"/>
              <a:t>Naturally, you all want to avoid this. </a:t>
            </a:r>
          </a:p>
          <a:p>
            <a:pPr marL="0" indent="0">
              <a:buNone/>
            </a:pPr>
            <a:endParaRPr lang="en-US" dirty="0"/>
          </a:p>
          <a:p>
            <a:pPr marL="0" indent="0">
              <a:buNone/>
            </a:pPr>
            <a:r>
              <a:rPr lang="nl-BE" dirty="0"/>
              <a:t>How would you go about </a:t>
            </a:r>
            <a:r>
              <a:rPr lang="nl-BE" dirty="0" err="1"/>
              <a:t>lobbying</a:t>
            </a:r>
            <a:r>
              <a:rPr lang="nl-BE" dirty="0"/>
              <a:t> </a:t>
            </a:r>
            <a:r>
              <a:rPr lang="nl-BE" dirty="0" err="1"/>
              <a:t>the</a:t>
            </a:r>
            <a:r>
              <a:rPr lang="nl-BE" dirty="0"/>
              <a:t> school/</a:t>
            </a:r>
            <a:r>
              <a:rPr lang="nl-BE" dirty="0" err="1"/>
              <a:t>university</a:t>
            </a:r>
            <a:r>
              <a:rPr lang="nl-BE" dirty="0"/>
              <a:t> </a:t>
            </a:r>
            <a:r>
              <a:rPr lang="nl-BE" dirty="0" err="1"/>
              <a:t>for</a:t>
            </a:r>
            <a:r>
              <a:rPr lang="nl-BE" dirty="0"/>
              <a:t> this? What actions would you </a:t>
            </a:r>
            <a:r>
              <a:rPr lang="nl-BE" dirty="0" err="1"/>
              <a:t>undertake</a:t>
            </a:r>
            <a:r>
              <a:rPr lang="nl-BE" dirty="0"/>
              <a:t>? Come up with multiple </a:t>
            </a:r>
            <a:r>
              <a:rPr lang="nl-BE" dirty="0" err="1"/>
              <a:t>strategies</a:t>
            </a:r>
            <a:r>
              <a:rPr lang="nl-BE" dirty="0"/>
              <a:t>!</a:t>
            </a:r>
          </a:p>
        </p:txBody>
      </p:sp>
    </p:spTree>
    <p:extLst>
      <p:ext uri="{BB962C8B-B14F-4D97-AF65-F5344CB8AC3E}">
        <p14:creationId xmlns:p14="http://schemas.microsoft.com/office/powerpoint/2010/main" val="4060385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7A59-AD90-77A7-830A-7138FC52D973}"/>
              </a:ext>
            </a:extLst>
          </p:cNvPr>
          <p:cNvSpPr>
            <a:spLocks noGrp="1"/>
          </p:cNvSpPr>
          <p:nvPr>
            <p:ph type="title"/>
          </p:nvPr>
        </p:nvSpPr>
        <p:spPr/>
        <p:txBody>
          <a:bodyPr/>
          <a:lstStyle/>
          <a:p>
            <a:r>
              <a:rPr lang="en-US" dirty="0"/>
              <a:t>Exercise: Lobbying for Open Book Exam</a:t>
            </a:r>
            <a:endParaRPr lang="nl-BE" dirty="0"/>
          </a:p>
        </p:txBody>
      </p:sp>
      <p:sp>
        <p:nvSpPr>
          <p:cNvPr id="3" name="Content Placeholder 2">
            <a:extLst>
              <a:ext uri="{FF2B5EF4-FFF2-40B4-BE49-F238E27FC236}">
                <a16:creationId xmlns:a16="http://schemas.microsoft.com/office/drawing/2014/main" id="{57EBD05E-38F0-A092-E531-2CF84AD195D4}"/>
              </a:ext>
            </a:extLst>
          </p:cNvPr>
          <p:cNvSpPr>
            <a:spLocks noGrp="1"/>
          </p:cNvSpPr>
          <p:nvPr>
            <p:ph idx="1"/>
          </p:nvPr>
        </p:nvSpPr>
        <p:spPr/>
        <p:txBody>
          <a:bodyPr/>
          <a:lstStyle/>
          <a:p>
            <a:r>
              <a:rPr lang="fr-BE" dirty="0" err="1"/>
              <a:t>Petitions</a:t>
            </a:r>
            <a:endParaRPr lang="fr-BE" dirty="0"/>
          </a:p>
          <a:p>
            <a:r>
              <a:rPr lang="fr-BE" dirty="0"/>
              <a:t>Spam emails </a:t>
            </a:r>
          </a:p>
          <a:p>
            <a:r>
              <a:rPr lang="fr-BE" dirty="0" err="1"/>
              <a:t>Walkouts</a:t>
            </a:r>
            <a:endParaRPr lang="fr-BE" dirty="0"/>
          </a:p>
          <a:p>
            <a:r>
              <a:rPr lang="fr-BE" dirty="0" err="1"/>
              <a:t>Student</a:t>
            </a:r>
            <a:r>
              <a:rPr lang="fr-BE" dirty="0"/>
              <a:t> unions -&gt; partnership</a:t>
            </a:r>
          </a:p>
          <a:p>
            <a:r>
              <a:rPr lang="fr-BE" dirty="0"/>
              <a:t>Strike at exam </a:t>
            </a:r>
            <a:r>
              <a:rPr lang="fr-BE" dirty="0" err="1"/>
              <a:t>day</a:t>
            </a:r>
            <a:endParaRPr lang="fr-BE" dirty="0"/>
          </a:p>
          <a:p>
            <a:r>
              <a:rPr lang="fr-BE" dirty="0" err="1"/>
              <a:t>Bargaining</a:t>
            </a:r>
            <a:r>
              <a:rPr lang="fr-BE" dirty="0"/>
              <a:t>: </a:t>
            </a:r>
            <a:r>
              <a:rPr lang="fr-BE" dirty="0" err="1"/>
              <a:t>easier</a:t>
            </a:r>
            <a:r>
              <a:rPr lang="fr-BE" dirty="0"/>
              <a:t> questions + </a:t>
            </a:r>
            <a:r>
              <a:rPr lang="fr-BE" dirty="0" err="1"/>
              <a:t>tips</a:t>
            </a:r>
            <a:r>
              <a:rPr lang="fr-BE" dirty="0"/>
              <a:t> on the exam</a:t>
            </a:r>
          </a:p>
          <a:p>
            <a:r>
              <a:rPr lang="fr-BE" dirty="0"/>
              <a:t>Mass </a:t>
            </a:r>
            <a:r>
              <a:rPr lang="fr-BE" dirty="0" err="1"/>
              <a:t>tranfer</a:t>
            </a:r>
            <a:r>
              <a:rPr lang="fr-BE" dirty="0"/>
              <a:t> to </a:t>
            </a:r>
            <a:r>
              <a:rPr lang="fr-BE" dirty="0" err="1"/>
              <a:t>other</a:t>
            </a:r>
            <a:r>
              <a:rPr lang="fr-BE" dirty="0"/>
              <a:t> module</a:t>
            </a:r>
          </a:p>
          <a:p>
            <a:r>
              <a:rPr lang="fr-BE" dirty="0"/>
              <a:t>Meeting </a:t>
            </a:r>
            <a:r>
              <a:rPr lang="fr-BE" dirty="0" err="1"/>
              <a:t>with</a:t>
            </a:r>
            <a:r>
              <a:rPr lang="fr-BE" dirty="0"/>
              <a:t> course </a:t>
            </a:r>
            <a:r>
              <a:rPr lang="fr-BE" dirty="0" err="1"/>
              <a:t>coordinator</a:t>
            </a:r>
            <a:endParaRPr lang="nl-BE" dirty="0"/>
          </a:p>
        </p:txBody>
      </p:sp>
    </p:spTree>
    <p:extLst>
      <p:ext uri="{BB962C8B-B14F-4D97-AF65-F5344CB8AC3E}">
        <p14:creationId xmlns:p14="http://schemas.microsoft.com/office/powerpoint/2010/main" val="121378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30B9-3661-65A4-20F8-86DC296DA208}"/>
              </a:ext>
            </a:extLst>
          </p:cNvPr>
          <p:cNvSpPr>
            <a:spLocks noGrp="1"/>
          </p:cNvSpPr>
          <p:nvPr>
            <p:ph type="title"/>
          </p:nvPr>
        </p:nvSpPr>
        <p:spPr/>
        <p:txBody>
          <a:bodyPr/>
          <a:lstStyle/>
          <a:p>
            <a:r>
              <a:rPr lang="en-US" dirty="0"/>
              <a:t>Inside Lobbying</a:t>
            </a:r>
            <a:endParaRPr lang="nl-BE" dirty="0"/>
          </a:p>
        </p:txBody>
      </p:sp>
      <p:sp>
        <p:nvSpPr>
          <p:cNvPr id="3" name="Content Placeholder 2">
            <a:extLst>
              <a:ext uri="{FF2B5EF4-FFF2-40B4-BE49-F238E27FC236}">
                <a16:creationId xmlns:a16="http://schemas.microsoft.com/office/drawing/2014/main" id="{D8B0DB6C-497B-CA41-62EC-D266DE497742}"/>
              </a:ext>
            </a:extLst>
          </p:cNvPr>
          <p:cNvSpPr>
            <a:spLocks noGrp="1"/>
          </p:cNvSpPr>
          <p:nvPr>
            <p:ph idx="1"/>
          </p:nvPr>
        </p:nvSpPr>
        <p:spPr/>
        <p:txBody>
          <a:bodyPr/>
          <a:lstStyle/>
          <a:p>
            <a:r>
              <a:rPr lang="en-US" dirty="0"/>
              <a:t>Face-to-face meetings</a:t>
            </a:r>
          </a:p>
          <a:p>
            <a:r>
              <a:rPr lang="en-US" dirty="0"/>
              <a:t>Emails, letters,  advocacy papers</a:t>
            </a:r>
          </a:p>
          <a:p>
            <a:r>
              <a:rPr lang="en-US" dirty="0"/>
              <a:t>Drafting amendments</a:t>
            </a:r>
          </a:p>
          <a:p>
            <a:r>
              <a:rPr lang="en-US" dirty="0"/>
              <a:t>Consultations, open hearings</a:t>
            </a:r>
          </a:p>
          <a:p>
            <a:r>
              <a:rPr lang="en-US" dirty="0"/>
              <a:t>Events</a:t>
            </a:r>
          </a:p>
          <a:p>
            <a:r>
              <a:rPr lang="en-US" dirty="0"/>
              <a:t>…</a:t>
            </a:r>
            <a:endParaRPr lang="nl-BE" dirty="0"/>
          </a:p>
        </p:txBody>
      </p:sp>
    </p:spTree>
    <p:extLst>
      <p:ext uri="{BB962C8B-B14F-4D97-AF65-F5344CB8AC3E}">
        <p14:creationId xmlns:p14="http://schemas.microsoft.com/office/powerpoint/2010/main" val="3101564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B6327-3F5F-3E15-3919-AD60CA778D84}"/>
              </a:ext>
            </a:extLst>
          </p:cNvPr>
          <p:cNvSpPr>
            <a:spLocks noGrp="1"/>
          </p:cNvSpPr>
          <p:nvPr>
            <p:ph type="title"/>
          </p:nvPr>
        </p:nvSpPr>
        <p:spPr/>
        <p:txBody>
          <a:bodyPr/>
          <a:lstStyle/>
          <a:p>
            <a:endParaRPr lang="nl-BE"/>
          </a:p>
        </p:txBody>
      </p:sp>
      <p:sp>
        <p:nvSpPr>
          <p:cNvPr id="3" name="Content Placeholder 2">
            <a:extLst>
              <a:ext uri="{FF2B5EF4-FFF2-40B4-BE49-F238E27FC236}">
                <a16:creationId xmlns:a16="http://schemas.microsoft.com/office/drawing/2014/main" id="{BB62C81C-7708-0D84-CA39-052469CF9120}"/>
              </a:ext>
            </a:extLst>
          </p:cNvPr>
          <p:cNvSpPr>
            <a:spLocks noGrp="1"/>
          </p:cNvSpPr>
          <p:nvPr>
            <p:ph idx="1"/>
          </p:nvPr>
        </p:nvSpPr>
        <p:spPr/>
        <p:txBody>
          <a:bodyPr/>
          <a:lstStyle/>
          <a:p>
            <a:endParaRPr lang="nl-BE"/>
          </a:p>
        </p:txBody>
      </p:sp>
      <p:pic>
        <p:nvPicPr>
          <p:cNvPr id="5" name="Picture 4">
            <a:extLst>
              <a:ext uri="{FF2B5EF4-FFF2-40B4-BE49-F238E27FC236}">
                <a16:creationId xmlns:a16="http://schemas.microsoft.com/office/drawing/2014/main" id="{18930AC5-C1A4-CD67-F161-B6DA8416D996}"/>
              </a:ext>
            </a:extLst>
          </p:cNvPr>
          <p:cNvPicPr>
            <a:picLocks noChangeAspect="1"/>
          </p:cNvPicPr>
          <p:nvPr/>
        </p:nvPicPr>
        <p:blipFill>
          <a:blip r:embed="rId2"/>
          <a:stretch>
            <a:fillRect/>
          </a:stretch>
        </p:blipFill>
        <p:spPr>
          <a:xfrm>
            <a:off x="1204912" y="628650"/>
            <a:ext cx="9782175" cy="5600700"/>
          </a:xfrm>
          <a:prstGeom prst="rect">
            <a:avLst/>
          </a:prstGeom>
        </p:spPr>
      </p:pic>
      <p:sp>
        <p:nvSpPr>
          <p:cNvPr id="6" name="TextBox 5">
            <a:extLst>
              <a:ext uri="{FF2B5EF4-FFF2-40B4-BE49-F238E27FC236}">
                <a16:creationId xmlns:a16="http://schemas.microsoft.com/office/drawing/2014/main" id="{A5F791A3-1538-F8F7-485D-F9BF575BE022}"/>
              </a:ext>
            </a:extLst>
          </p:cNvPr>
          <p:cNvSpPr txBox="1"/>
          <p:nvPr/>
        </p:nvSpPr>
        <p:spPr>
          <a:xfrm>
            <a:off x="4284132" y="1640959"/>
            <a:ext cx="3623734" cy="369332"/>
          </a:xfrm>
          <a:prstGeom prst="rect">
            <a:avLst/>
          </a:prstGeom>
          <a:noFill/>
        </p:spPr>
        <p:txBody>
          <a:bodyPr wrap="square" rtlCol="0">
            <a:spAutoFit/>
          </a:bodyPr>
          <a:lstStyle/>
          <a:p>
            <a:pPr algn="ctr"/>
            <a:r>
              <a:rPr lang="en-US" b="1" dirty="0">
                <a:solidFill>
                  <a:srgbClr val="FF0000"/>
                </a:solidFill>
              </a:rPr>
              <a:t>Individual Representation</a:t>
            </a:r>
            <a:endParaRPr lang="nl-BE" b="1" dirty="0">
              <a:solidFill>
                <a:srgbClr val="FF0000"/>
              </a:solidFill>
            </a:endParaRPr>
          </a:p>
        </p:txBody>
      </p:sp>
      <p:sp>
        <p:nvSpPr>
          <p:cNvPr id="7" name="TextBox 6">
            <a:extLst>
              <a:ext uri="{FF2B5EF4-FFF2-40B4-BE49-F238E27FC236}">
                <a16:creationId xmlns:a16="http://schemas.microsoft.com/office/drawing/2014/main" id="{66D514A6-9BF5-6CF8-48B8-D5C031A69A50}"/>
              </a:ext>
            </a:extLst>
          </p:cNvPr>
          <p:cNvSpPr txBox="1"/>
          <p:nvPr/>
        </p:nvSpPr>
        <p:spPr>
          <a:xfrm>
            <a:off x="4284132" y="2763661"/>
            <a:ext cx="3623734" cy="369332"/>
          </a:xfrm>
          <a:prstGeom prst="rect">
            <a:avLst/>
          </a:prstGeom>
          <a:noFill/>
        </p:spPr>
        <p:txBody>
          <a:bodyPr wrap="square" rtlCol="0">
            <a:spAutoFit/>
          </a:bodyPr>
          <a:lstStyle/>
          <a:p>
            <a:pPr algn="ctr"/>
            <a:r>
              <a:rPr lang="en-US" b="1" dirty="0">
                <a:solidFill>
                  <a:srgbClr val="FF0000"/>
                </a:solidFill>
              </a:rPr>
              <a:t>Collective Representation</a:t>
            </a:r>
            <a:endParaRPr lang="nl-BE" b="1" dirty="0">
              <a:solidFill>
                <a:srgbClr val="FF0000"/>
              </a:solidFill>
            </a:endParaRPr>
          </a:p>
        </p:txBody>
      </p:sp>
      <p:sp>
        <p:nvSpPr>
          <p:cNvPr id="4" name="TextBox 3">
            <a:extLst>
              <a:ext uri="{FF2B5EF4-FFF2-40B4-BE49-F238E27FC236}">
                <a16:creationId xmlns:a16="http://schemas.microsoft.com/office/drawing/2014/main" id="{B4E8C81B-D58D-A967-1D43-8975EE19A49D}"/>
              </a:ext>
            </a:extLst>
          </p:cNvPr>
          <p:cNvSpPr txBox="1"/>
          <p:nvPr/>
        </p:nvSpPr>
        <p:spPr>
          <a:xfrm>
            <a:off x="1627978" y="6334780"/>
            <a:ext cx="8936039" cy="523220"/>
          </a:xfrm>
          <a:prstGeom prst="rect">
            <a:avLst/>
          </a:prstGeom>
          <a:noFill/>
        </p:spPr>
        <p:txBody>
          <a:bodyPr wrap="square" rtlCol="0">
            <a:spAutoFit/>
          </a:bodyPr>
          <a:lstStyle/>
          <a:p>
            <a:r>
              <a:rPr lang="en-US" sz="1400" dirty="0"/>
              <a:t>Nichols et al. 2024. Lobbying in the Sunlight: A Scoping Review of Frameworks to Measure the Accessibility of Lobbying Disclosures. </a:t>
            </a:r>
            <a:r>
              <a:rPr lang="nl-BE" sz="1400" dirty="0"/>
              <a:t>DOI:</a:t>
            </a:r>
            <a:r>
              <a:rPr lang="nl-BE" sz="1400" dirty="0">
                <a:hlinkClick r:id="rId3"/>
              </a:rPr>
              <a:t>10.34172/ijhpm.8497</a:t>
            </a:r>
            <a:endParaRPr lang="nl-BE" sz="1400" dirty="0"/>
          </a:p>
        </p:txBody>
      </p:sp>
    </p:spTree>
    <p:extLst>
      <p:ext uri="{BB962C8B-B14F-4D97-AF65-F5344CB8AC3E}">
        <p14:creationId xmlns:p14="http://schemas.microsoft.com/office/powerpoint/2010/main" val="3808628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B892-FCA1-0005-2BE4-EBE3B348ABA9}"/>
              </a:ext>
            </a:extLst>
          </p:cNvPr>
          <p:cNvSpPr>
            <a:spLocks noGrp="1"/>
          </p:cNvSpPr>
          <p:nvPr>
            <p:ph type="title"/>
          </p:nvPr>
        </p:nvSpPr>
        <p:spPr/>
        <p:txBody>
          <a:bodyPr/>
          <a:lstStyle/>
          <a:p>
            <a:r>
              <a:rPr lang="en-US" dirty="0"/>
              <a:t>Outside Lobbying</a:t>
            </a:r>
            <a:endParaRPr lang="nl-BE" dirty="0"/>
          </a:p>
        </p:txBody>
      </p:sp>
      <p:sp>
        <p:nvSpPr>
          <p:cNvPr id="3" name="Content Placeholder 2">
            <a:extLst>
              <a:ext uri="{FF2B5EF4-FFF2-40B4-BE49-F238E27FC236}">
                <a16:creationId xmlns:a16="http://schemas.microsoft.com/office/drawing/2014/main" id="{C5BDDDB7-EB57-0CCC-A519-D57836162170}"/>
              </a:ext>
            </a:extLst>
          </p:cNvPr>
          <p:cNvSpPr>
            <a:spLocks noGrp="1"/>
          </p:cNvSpPr>
          <p:nvPr>
            <p:ph idx="1"/>
          </p:nvPr>
        </p:nvSpPr>
        <p:spPr/>
        <p:txBody>
          <a:bodyPr/>
          <a:lstStyle/>
          <a:p>
            <a:r>
              <a:rPr lang="en-US" dirty="0"/>
              <a:t>Press/media engagements</a:t>
            </a:r>
          </a:p>
          <a:p>
            <a:r>
              <a:rPr lang="en-US" dirty="0"/>
              <a:t>Campaigns, petitions</a:t>
            </a:r>
          </a:p>
          <a:p>
            <a:r>
              <a:rPr lang="en-US" dirty="0"/>
              <a:t>Grassroots mobilization</a:t>
            </a:r>
          </a:p>
          <a:p>
            <a:r>
              <a:rPr lang="en-US" dirty="0"/>
              <a:t>Demonstrations</a:t>
            </a:r>
          </a:p>
          <a:p>
            <a:r>
              <a:rPr lang="en-US" dirty="0"/>
              <a:t>…</a:t>
            </a:r>
          </a:p>
          <a:p>
            <a:endParaRPr lang="en-US" dirty="0"/>
          </a:p>
          <a:p>
            <a:pPr marL="0" indent="0">
              <a:buNone/>
            </a:pPr>
            <a:r>
              <a:rPr lang="en-US" dirty="0"/>
              <a:t>But for interest groups: lobbying success vs organizational survival </a:t>
            </a:r>
            <a:r>
              <a:rPr lang="en-US" sz="1800" b="1" dirty="0"/>
              <a:t>(Beyers et al. 2008)</a:t>
            </a:r>
            <a:endParaRPr lang="nl-BE" b="1" dirty="0"/>
          </a:p>
        </p:txBody>
      </p:sp>
    </p:spTree>
    <p:extLst>
      <p:ext uri="{BB962C8B-B14F-4D97-AF65-F5344CB8AC3E}">
        <p14:creationId xmlns:p14="http://schemas.microsoft.com/office/powerpoint/2010/main" val="2553587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AE23-AA97-608D-9600-C97AC058605A}"/>
              </a:ext>
            </a:extLst>
          </p:cNvPr>
          <p:cNvSpPr>
            <a:spLocks noGrp="1"/>
          </p:cNvSpPr>
          <p:nvPr>
            <p:ph type="title"/>
          </p:nvPr>
        </p:nvSpPr>
        <p:spPr/>
        <p:txBody>
          <a:bodyPr/>
          <a:lstStyle/>
          <a:p>
            <a:r>
              <a:rPr lang="en-US" dirty="0"/>
              <a:t>Conclusion</a:t>
            </a:r>
            <a:endParaRPr lang="nl-BE" dirty="0"/>
          </a:p>
        </p:txBody>
      </p:sp>
      <p:sp>
        <p:nvSpPr>
          <p:cNvPr id="3" name="Content Placeholder 2">
            <a:extLst>
              <a:ext uri="{FF2B5EF4-FFF2-40B4-BE49-F238E27FC236}">
                <a16:creationId xmlns:a16="http://schemas.microsoft.com/office/drawing/2014/main" id="{2C63955E-A0A9-102C-D09A-C5E3BFDDD76C}"/>
              </a:ext>
            </a:extLst>
          </p:cNvPr>
          <p:cNvSpPr>
            <a:spLocks noGrp="1"/>
          </p:cNvSpPr>
          <p:nvPr>
            <p:ph idx="1"/>
          </p:nvPr>
        </p:nvSpPr>
        <p:spPr/>
        <p:txBody>
          <a:bodyPr>
            <a:normAutofit fontScale="92500" lnSpcReduction="10000"/>
          </a:bodyPr>
          <a:lstStyle/>
          <a:p>
            <a:r>
              <a:rPr lang="en-US" dirty="0"/>
              <a:t>Lobbying = activities by those with policy interests to convince officials of policy outcomes</a:t>
            </a:r>
          </a:p>
          <a:p>
            <a:r>
              <a:rPr lang="en-US" dirty="0"/>
              <a:t>Can be done in multiple ways:</a:t>
            </a:r>
          </a:p>
          <a:p>
            <a:pPr lvl="1"/>
            <a:r>
              <a:rPr lang="en-US" dirty="0"/>
              <a:t>Individually</a:t>
            </a:r>
          </a:p>
          <a:p>
            <a:pPr lvl="1"/>
            <a:r>
              <a:rPr lang="en-US" dirty="0"/>
              <a:t>Collectively (Interest Groups)</a:t>
            </a:r>
          </a:p>
          <a:p>
            <a:pPr lvl="1"/>
            <a:r>
              <a:rPr lang="en-US" dirty="0"/>
              <a:t>Inside</a:t>
            </a:r>
          </a:p>
          <a:p>
            <a:pPr lvl="1"/>
            <a:r>
              <a:rPr lang="en-US" dirty="0"/>
              <a:t>Outside</a:t>
            </a:r>
          </a:p>
          <a:p>
            <a:r>
              <a:rPr lang="en-US" dirty="0"/>
              <a:t>Next class: </a:t>
            </a:r>
          </a:p>
          <a:p>
            <a:pPr lvl="1"/>
            <a:r>
              <a:rPr lang="en-US" dirty="0"/>
              <a:t>What determines success? </a:t>
            </a:r>
          </a:p>
          <a:p>
            <a:pPr lvl="1"/>
            <a:r>
              <a:rPr lang="en-US" dirty="0"/>
              <a:t>What is role of money?</a:t>
            </a:r>
          </a:p>
          <a:p>
            <a:pPr lvl="1"/>
            <a:r>
              <a:rPr lang="en-US" dirty="0"/>
              <a:t>What is effect on democracy?</a:t>
            </a:r>
          </a:p>
          <a:p>
            <a:pPr lvl="1"/>
            <a:r>
              <a:rPr lang="en-US" dirty="0"/>
              <a:t>And what about corruption?</a:t>
            </a:r>
          </a:p>
          <a:p>
            <a:pPr lvl="1"/>
            <a:endParaRPr lang="nl-BE" dirty="0"/>
          </a:p>
        </p:txBody>
      </p:sp>
    </p:spTree>
    <p:extLst>
      <p:ext uri="{BB962C8B-B14F-4D97-AF65-F5344CB8AC3E}">
        <p14:creationId xmlns:p14="http://schemas.microsoft.com/office/powerpoint/2010/main" val="2759729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171</Paragraphs>
  <Slides>21</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Symbol</vt:lpstr>
      <vt:lpstr>Office Theme</vt:lpstr>
      <vt:lpstr>ICYMI: Video Lecture on Loop (link to YT)</vt:lpstr>
      <vt:lpstr>Preparation 1 is here!</vt:lpstr>
      <vt:lpstr>MPD in the News: Brussels’ blow to Big Tech</vt:lpstr>
      <vt:lpstr>MPD in the News: Brussels’ blow to Big Tech</vt:lpstr>
      <vt:lpstr>MPD in the News: Brussels’ blow to Big Tech</vt:lpstr>
      <vt:lpstr>POL1050: Money, Power and Democracy</vt:lpstr>
      <vt:lpstr>Schedule</vt:lpstr>
      <vt:lpstr>What is lobbying?</vt:lpstr>
      <vt:lpstr>Example: Brussels’ blow to Big Tech</vt:lpstr>
      <vt:lpstr>Who lobbies?</vt:lpstr>
      <vt:lpstr>Recap: What is power? </vt:lpstr>
      <vt:lpstr>Who lobbies?</vt:lpstr>
      <vt:lpstr>Who lobbies?</vt:lpstr>
      <vt:lpstr>What is an interest group?</vt:lpstr>
      <vt:lpstr>Ireland: over 2000 groups (Crepaz &amp; Chari 2022)</vt:lpstr>
      <vt:lpstr>Exercise: Lobbying for Open Book Exam</vt:lpstr>
      <vt:lpstr>Exercise: Lobbying for Open Book Exam</vt:lpstr>
      <vt:lpstr>Inside Lobbying</vt:lpstr>
      <vt:lpstr>PowerPoint Presentation</vt:lpstr>
      <vt:lpstr>Outside Lobbying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Toine Paulissen</dc:creator>
  <cp:lastModifiedBy>Toine Paulissen</cp:lastModifiedBy>
  <cp:revision>2</cp:revision>
  <cp:lastPrinted>2025-09-22T07:53:24Z</cp:lastPrinted>
  <dcterms:created xsi:type="dcterms:W3CDTF">2025-09-19T06:49:43Z</dcterms:created>
  <dcterms:modified xsi:type="dcterms:W3CDTF">2025-09-22T12:55:54Z</dcterms:modified>
</cp:coreProperties>
</file>